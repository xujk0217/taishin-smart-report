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59" r:id="rId6"/>
    <p:sldId id="260" r:id="rId7"/>
    <p:sldId id="342" r:id="rId8"/>
    <p:sldId id="261" r:id="rId9"/>
    <p:sldId id="343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86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&#27963;&#38913;&#31807;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&#27963;&#38913;&#31807;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&#27963;&#38913;&#31807;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1"/>
          <c:tx>
            <c:v>簽帳金額</c:v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dLbls>
            <c:dLbl>
              <c:idx val="11"/>
              <c:layout>
                <c:manualLayout>
                  <c:x val="-7.2089624939113486E-2"/>
                  <c:y val="-6.10997963340122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353-49BF-A6EC-DA786A17286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ysClr val="windowText" lastClr="00000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P.5預期修正_當月簽帳金額!$B$34:$M$34</c:f>
              <c:numCache>
                <c:formatCode>General</c:formatCode>
                <c:ptCount val="12"/>
                <c:pt idx="0">
                  <c:v>338561389</c:v>
                </c:pt>
                <c:pt idx="1">
                  <c:v>395294658</c:v>
                </c:pt>
                <c:pt idx="2">
                  <c:v>377172642</c:v>
                </c:pt>
                <c:pt idx="3">
                  <c:v>373344235</c:v>
                </c:pt>
                <c:pt idx="4">
                  <c:v>371785303</c:v>
                </c:pt>
                <c:pt idx="5">
                  <c:v>393715829</c:v>
                </c:pt>
                <c:pt idx="6">
                  <c:v>653264628</c:v>
                </c:pt>
                <c:pt idx="7">
                  <c:v>376250456</c:v>
                </c:pt>
                <c:pt idx="8">
                  <c:v>403174279</c:v>
                </c:pt>
                <c:pt idx="9">
                  <c:v>453412126</c:v>
                </c:pt>
                <c:pt idx="10">
                  <c:v>396704763</c:v>
                </c:pt>
                <c:pt idx="11">
                  <c:v>453663538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353-49BF-A6EC-DA786A1728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85074175"/>
        <c:axId val="1685084575"/>
      </c:lineChart>
      <c:lineChart>
        <c:grouping val="standard"/>
        <c:varyColors val="0"/>
        <c:ser>
          <c:idx val="0"/>
          <c:order val="0"/>
          <c:tx>
            <c:v>流通卡數</c:v>
          </c:tx>
          <c:spPr>
            <a:ln w="28575" cap="rnd">
              <a:solidFill>
                <a:schemeClr val="bg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dLbls>
            <c:dLbl>
              <c:idx val="11"/>
              <c:layout>
                <c:manualLayout>
                  <c:x val="-7.4037993180711151E-2"/>
                  <c:y val="-4.48065173116089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353-49BF-A6EC-DA786A17286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ysClr val="windowText" lastClr="00000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P.5預期修正_流通卡數!$B$34:$M$34</c:f>
              <c:numCache>
                <c:formatCode>General</c:formatCode>
                <c:ptCount val="12"/>
                <c:pt idx="0">
                  <c:v>58654745</c:v>
                </c:pt>
                <c:pt idx="1">
                  <c:v>58747562</c:v>
                </c:pt>
                <c:pt idx="2">
                  <c:v>58994262</c:v>
                </c:pt>
                <c:pt idx="3">
                  <c:v>59388667</c:v>
                </c:pt>
                <c:pt idx="4">
                  <c:v>59795907</c:v>
                </c:pt>
                <c:pt idx="5">
                  <c:v>59869255</c:v>
                </c:pt>
                <c:pt idx="6">
                  <c:v>59947219</c:v>
                </c:pt>
                <c:pt idx="7">
                  <c:v>60149284</c:v>
                </c:pt>
                <c:pt idx="8">
                  <c:v>60354497</c:v>
                </c:pt>
                <c:pt idx="9">
                  <c:v>60479206</c:v>
                </c:pt>
                <c:pt idx="10">
                  <c:v>60424521</c:v>
                </c:pt>
                <c:pt idx="11">
                  <c:v>60485911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353-49BF-A6EC-DA786A1728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36172239"/>
        <c:axId val="1136179311"/>
      </c:lineChart>
      <c:catAx>
        <c:axId val="1685074175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endParaRPr lang="zh-TW"/>
          </a:p>
        </c:txPr>
        <c:crossAx val="1685084575"/>
        <c:crosses val="autoZero"/>
        <c:auto val="1"/>
        <c:lblAlgn val="ctr"/>
        <c:lblOffset val="100"/>
        <c:noMultiLvlLbl val="0"/>
      </c:catAx>
      <c:valAx>
        <c:axId val="16850845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endParaRPr lang="zh-TW"/>
          </a:p>
        </c:txPr>
        <c:crossAx val="1685074175"/>
        <c:crosses val="autoZero"/>
        <c:crossBetween val="between"/>
      </c:valAx>
      <c:valAx>
        <c:axId val="1136179311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endParaRPr lang="zh-TW"/>
          </a:p>
        </c:txPr>
        <c:crossAx val="1136172239"/>
        <c:crosses val="max"/>
        <c:crossBetween val="between"/>
      </c:valAx>
      <c:catAx>
        <c:axId val="1136172239"/>
        <c:scaling>
          <c:orientation val="minMax"/>
        </c:scaling>
        <c:delete val="1"/>
        <c:axPos val="b"/>
        <c:majorTickMark val="out"/>
        <c:minorTickMark val="none"/>
        <c:tickLblPos val="nextTo"/>
        <c:crossAx val="113617931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100">
          <a:solidFill>
            <a:sysClr val="windowText" lastClr="000000"/>
          </a:solidFill>
          <a:latin typeface="微軟正黑體" panose="020B0604030504040204" pitchFamily="34" charset="-120"/>
          <a:ea typeface="微軟正黑體" panose="020B0604030504040204" pitchFamily="34" charset="-120"/>
        </a:defRPr>
      </a:pPr>
      <a:endParaRPr lang="zh-T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rgbClr val="C00000"/>
            </a:solidFill>
            <a:ln>
              <a:gradFill>
                <a:gsLst>
                  <a:gs pos="0">
                    <a:schemeClr val="bg2"/>
                  </a:gs>
                  <a:gs pos="100000">
                    <a:srgbClr val="C00000"/>
                  </a:gs>
                </a:gsLst>
                <a:lin ang="5400000" scaled="1"/>
              </a:gra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ysClr val="windowText" lastClr="00000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P.7預期修正_流通卡數!$A$3:$A$12</c:f>
              <c:strCache>
                <c:ptCount val="10"/>
                <c:pt idx="0">
                  <c:v>中國信託商業銀行</c:v>
                </c:pt>
                <c:pt idx="1">
                  <c:v>玉山商業銀行</c:v>
                </c:pt>
                <c:pt idx="2">
                  <c:v>台北富邦商業銀行</c:v>
                </c:pt>
                <c:pt idx="3">
                  <c:v>國泰世華商業銀行</c:v>
                </c:pt>
                <c:pt idx="4">
                  <c:v>台新國際商業銀行</c:v>
                </c:pt>
                <c:pt idx="5">
                  <c:v>星展(台灣)商業銀行</c:v>
                </c:pt>
                <c:pt idx="6">
                  <c:v>聯邦商業銀行</c:v>
                </c:pt>
                <c:pt idx="7">
                  <c:v>永豐商業銀行</c:v>
                </c:pt>
                <c:pt idx="8">
                  <c:v>第一商業銀行</c:v>
                </c:pt>
                <c:pt idx="9">
                  <c:v>遠東國際商業銀行</c:v>
                </c:pt>
              </c:strCache>
            </c:strRef>
          </c:cat>
          <c:val>
            <c:numRef>
              <c:f>P.7預期修正_流通卡數!$N$3:$N$12</c:f>
              <c:numCache>
                <c:formatCode>0.0%</c:formatCode>
                <c:ptCount val="10"/>
                <c:pt idx="0">
                  <c:v>0.15373306017447569</c:v>
                </c:pt>
                <c:pt idx="1">
                  <c:v>0.14038048009288101</c:v>
                </c:pt>
                <c:pt idx="2">
                  <c:v>0.12406276885356197</c:v>
                </c:pt>
                <c:pt idx="3">
                  <c:v>0.12296183776650459</c:v>
                </c:pt>
                <c:pt idx="4">
                  <c:v>0.11068590713574733</c:v>
                </c:pt>
                <c:pt idx="5">
                  <c:v>5.5441911308090015E-2</c:v>
                </c:pt>
                <c:pt idx="6">
                  <c:v>4.6040289565252565E-2</c:v>
                </c:pt>
                <c:pt idx="7">
                  <c:v>4.0203035522111276E-2</c:v>
                </c:pt>
                <c:pt idx="8">
                  <c:v>2.5191591826891308E-2</c:v>
                </c:pt>
                <c:pt idx="9">
                  <c:v>2.2278134255117054E-2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77-45ED-8A83-AE15A056EE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847800207"/>
        <c:axId val="1045347807"/>
      </c:barChart>
      <c:catAx>
        <c:axId val="847800207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endParaRPr lang="zh-TW"/>
          </a:p>
        </c:txPr>
        <c:crossAx val="1045347807"/>
        <c:crosses val="autoZero"/>
        <c:auto val="1"/>
        <c:lblAlgn val="ctr"/>
        <c:lblOffset val="100"/>
        <c:noMultiLvlLbl val="0"/>
      </c:catAx>
      <c:valAx>
        <c:axId val="1045347807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crossAx val="8478002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200">
          <a:solidFill>
            <a:sysClr val="windowText" lastClr="000000"/>
          </a:solidFill>
          <a:latin typeface="微軟正黑體" panose="020B0604030504040204" pitchFamily="34" charset="-120"/>
          <a:ea typeface="微軟正黑體" panose="020B0604030504040204" pitchFamily="34" charset="-120"/>
        </a:defRPr>
      </a:pPr>
      <a:endParaRPr lang="zh-TW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ysClr val="windowText" lastClr="00000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P.7預期修正_當月簽帳金額!$A$3:$A$7</c:f>
              <c:strCache>
                <c:ptCount val="5"/>
                <c:pt idx="0">
                  <c:v>中國信託商業銀行</c:v>
                </c:pt>
                <c:pt idx="1">
                  <c:v>國泰世華商業銀行</c:v>
                </c:pt>
                <c:pt idx="2">
                  <c:v>玉山商業銀行</c:v>
                </c:pt>
                <c:pt idx="3">
                  <c:v>台北富邦商業銀行</c:v>
                </c:pt>
                <c:pt idx="4">
                  <c:v>台新國際商業銀行</c:v>
                </c:pt>
              </c:strCache>
            </c:strRef>
          </c:cat>
          <c:val>
            <c:numRef>
              <c:f>P.7預期修正_當月簽帳金額!$N$3:$N$7</c:f>
              <c:numCache>
                <c:formatCode>0.0%</c:formatCode>
                <c:ptCount val="5"/>
                <c:pt idx="0">
                  <c:v>0.17853072722093222</c:v>
                </c:pt>
                <c:pt idx="1">
                  <c:v>0.17161305726769169</c:v>
                </c:pt>
                <c:pt idx="2">
                  <c:v>0.13296082750728139</c:v>
                </c:pt>
                <c:pt idx="3">
                  <c:v>0.12600295234433379</c:v>
                </c:pt>
                <c:pt idx="4">
                  <c:v>0.10613299530567512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48-48A5-8A7D-100ACD2F5C9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756760879"/>
        <c:axId val="1756777519"/>
      </c:barChart>
      <c:catAx>
        <c:axId val="1756760879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endParaRPr lang="zh-TW"/>
          </a:p>
        </c:txPr>
        <c:crossAx val="1756777519"/>
        <c:crosses val="autoZero"/>
        <c:auto val="1"/>
        <c:lblAlgn val="ctr"/>
        <c:lblOffset val="100"/>
        <c:noMultiLvlLbl val="0"/>
      </c:catAx>
      <c:valAx>
        <c:axId val="1756777519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crossAx val="17567608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200">
          <a:solidFill>
            <a:sysClr val="windowText" lastClr="000000"/>
          </a:solidFill>
          <a:latin typeface="微軟正黑體" panose="020B0604030504040204" pitchFamily="34" charset="-120"/>
          <a:ea typeface="微軟正黑體" panose="020B0604030504040204" pitchFamily="34" charset="-120"/>
        </a:defRPr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preserve="1">
  <p:cSld name="標題投影片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圖形 的圖片&#10;&#10;AI 產生的內容可能不正確。">
            <a:extLst>
              <a:ext uri="{FF2B5EF4-FFF2-40B4-BE49-F238E27FC236}">
                <a16:creationId xmlns:a16="http://schemas.microsoft.com/office/drawing/2014/main" id="{026A16C4-3BD0-72DB-C8B5-239F03494B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14" name="Google Shape;14;p7"/>
          <p:cNvSpPr txBox="1">
            <a:spLocks noGrp="1"/>
          </p:cNvSpPr>
          <p:nvPr>
            <p:ph type="title"/>
          </p:nvPr>
        </p:nvSpPr>
        <p:spPr>
          <a:xfrm>
            <a:off x="1114515" y="1278736"/>
            <a:ext cx="9962700" cy="7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3000"/>
              <a:buNone/>
              <a:defRPr sz="3000" i="0">
                <a:solidFill>
                  <a:srgbClr val="4F4F4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sp>
        <p:nvSpPr>
          <p:cNvPr id="15" name="Google Shape;15;p7"/>
          <p:cNvSpPr txBox="1">
            <a:spLocks noGrp="1"/>
          </p:cNvSpPr>
          <p:nvPr>
            <p:ph type="body" idx="1"/>
          </p:nvPr>
        </p:nvSpPr>
        <p:spPr>
          <a:xfrm>
            <a:off x="1114350" y="2394796"/>
            <a:ext cx="9963300" cy="30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E171B"/>
              </a:buClr>
              <a:buSzPts val="2400"/>
              <a:buChar char="●"/>
              <a:defRPr i="0">
                <a:solidFill>
                  <a:srgbClr val="4F4F4F"/>
                </a:solidFill>
              </a:defRPr>
            </a:lvl1pPr>
            <a:lvl2pPr marL="914400" marR="0" lvl="1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C181D"/>
              </a:buClr>
              <a:buSzPts val="2000"/>
              <a:buChar char="●"/>
              <a:defRPr i="0">
                <a:solidFill>
                  <a:srgbClr val="4F4F4F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800"/>
              <a:buChar char="■"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800"/>
              <a:buNone/>
              <a:defRPr b="1"/>
            </a:lvl4pPr>
            <a:lvl5pPr marL="2286000" lvl="4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500"/>
              <a:buChar char="•"/>
              <a:defRPr sz="1500" b="1"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400"/>
              <a:buChar char="•"/>
              <a:defRPr sz="1400" b="1">
                <a:solidFill>
                  <a:srgbClr val="464444"/>
                </a:solidFill>
              </a:defRPr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200"/>
              <a:buChar char="•"/>
              <a:defRPr sz="1200" b="1">
                <a:solidFill>
                  <a:srgbClr val="464444"/>
                </a:solidFill>
              </a:defRPr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000"/>
              <a:buChar char="•"/>
              <a:defRPr sz="1000" b="1">
                <a:solidFill>
                  <a:srgbClr val="464444"/>
                </a:solidFill>
              </a:defRPr>
            </a:lvl8pPr>
            <a:lvl9pPr marL="4114800" lvl="8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800"/>
              <a:buChar char="•"/>
              <a:defRPr sz="800" b="1">
                <a:solidFill>
                  <a:srgbClr val="464444"/>
                </a:solidFill>
              </a:defRPr>
            </a:lvl9pPr>
          </a:lstStyle>
          <a:p>
            <a:endParaRPr/>
          </a:p>
        </p:txBody>
      </p:sp>
      <p:cxnSp>
        <p:nvCxnSpPr>
          <p:cNvPr id="16" name="Google Shape;16;p7"/>
          <p:cNvCxnSpPr/>
          <p:nvPr/>
        </p:nvCxnSpPr>
        <p:spPr>
          <a:xfrm>
            <a:off x="1114515" y="2056042"/>
            <a:ext cx="99627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" name="Google Shape;17;p7" title="金控_中_白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600" y="5618832"/>
            <a:ext cx="2830550" cy="10770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929228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標題投影片" preserve="1">
  <p:cSld name="2_標題投影片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圖形 的圖片&#10;&#10;AI 產生的內容可能不正確。">
            <a:extLst>
              <a:ext uri="{FF2B5EF4-FFF2-40B4-BE49-F238E27FC236}">
                <a16:creationId xmlns:a16="http://schemas.microsoft.com/office/drawing/2014/main" id="{E912A1DA-C32A-79BA-3D45-A52103A38D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pic>
        <p:nvPicPr>
          <p:cNvPr id="19" name="Google Shape;19;p8" title="金控_中_白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600" y="5618832"/>
            <a:ext cx="2830550" cy="1077051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8"/>
          <p:cNvSpPr txBox="1">
            <a:spLocks noGrp="1"/>
          </p:cNvSpPr>
          <p:nvPr>
            <p:ph type="title"/>
          </p:nvPr>
        </p:nvSpPr>
        <p:spPr>
          <a:xfrm>
            <a:off x="1114531" y="1640061"/>
            <a:ext cx="9962700" cy="21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4400"/>
              <a:buNone/>
              <a:defRPr sz="4400" i="0">
                <a:solidFill>
                  <a:srgbClr val="4F4F4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93609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標題投影片" preserve="1">
  <p:cSld name="3_標題投影片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圖形, 設計 的圖片&#10;&#10;AI 產生的內容可能不正確。">
            <a:extLst>
              <a:ext uri="{FF2B5EF4-FFF2-40B4-BE49-F238E27FC236}">
                <a16:creationId xmlns:a16="http://schemas.microsoft.com/office/drawing/2014/main" id="{C649EEB2-B486-967D-A023-BE167D421E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pic>
        <p:nvPicPr>
          <p:cNvPr id="22" name="Google Shape;22;p9" title="金控_中_白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600" y="5618832"/>
            <a:ext cx="2830550" cy="1077051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9"/>
          <p:cNvSpPr txBox="1">
            <a:spLocks noGrp="1"/>
          </p:cNvSpPr>
          <p:nvPr>
            <p:ph type="title"/>
          </p:nvPr>
        </p:nvSpPr>
        <p:spPr>
          <a:xfrm>
            <a:off x="1114531" y="1640061"/>
            <a:ext cx="9962700" cy="21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4400"/>
              <a:buNone/>
              <a:defRPr sz="4400" i="0">
                <a:solidFill>
                  <a:srgbClr val="4F4F4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201154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標題及內容" preserve="1">
  <p:cSld name="1_標題及內容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0"/>
          <p:cNvSpPr txBox="1">
            <a:spLocks noGrp="1"/>
          </p:cNvSpPr>
          <p:nvPr>
            <p:ph type="body" idx="1"/>
          </p:nvPr>
        </p:nvSpPr>
        <p:spPr>
          <a:xfrm>
            <a:off x="368595" y="1247553"/>
            <a:ext cx="11242500" cy="48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C181D"/>
              </a:buClr>
              <a:buSzPts val="2400"/>
              <a:buFont typeface="Noto Sans Symbols"/>
              <a:buChar char="■"/>
              <a:defRPr sz="2400" b="1"/>
            </a:lvl1pPr>
            <a:lvl2pPr marL="914400" lvl="1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C181D"/>
              </a:buClr>
              <a:buSzPts val="2000"/>
              <a:buFont typeface="Noto Sans Symbols"/>
              <a:buChar char="●"/>
              <a:defRPr sz="2000" b="1"/>
            </a:lvl2pPr>
            <a:lvl3pPr marL="1371600" lvl="2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C181D"/>
              </a:buClr>
              <a:buSzPts val="1600"/>
              <a:buFont typeface="Noto Sans Symbols"/>
              <a:buChar char="●"/>
              <a:defRPr sz="1600" b="1"/>
            </a:lvl3pPr>
            <a:lvl4pPr marL="1828800" lvl="3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C181D"/>
              </a:buClr>
              <a:buSzPts val="1200"/>
              <a:buFont typeface="Arial"/>
              <a:buChar char="•"/>
              <a:defRPr sz="1200" b="1"/>
            </a:lvl4pPr>
            <a:lvl5pPr marL="2286000" lvl="4" indent="-31432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C181D"/>
              </a:buClr>
              <a:buSzPts val="1350"/>
              <a:buFont typeface="Noto Sans Symbols"/>
              <a:buChar char="●"/>
              <a:defRPr sz="1350" b="1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title"/>
          </p:nvPr>
        </p:nvSpPr>
        <p:spPr>
          <a:xfrm>
            <a:off x="349956" y="259072"/>
            <a:ext cx="11261019" cy="759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44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sldNum" idx="12"/>
          </p:nvPr>
        </p:nvSpPr>
        <p:spPr>
          <a:xfrm flipH="1">
            <a:off x="11397425" y="6394525"/>
            <a:ext cx="6513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8" name="Google Shape;28;p10"/>
          <p:cNvSpPr txBox="1"/>
          <p:nvPr/>
        </p:nvSpPr>
        <p:spPr>
          <a:xfrm>
            <a:off x="-2146501" y="-1235899"/>
            <a:ext cx="11261019" cy="759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444"/>
              </a:buClr>
              <a:buSzPts val="3000"/>
              <a:buFont typeface="Noto Sans"/>
              <a:buNone/>
            </a:pPr>
            <a:endParaRPr sz="3000" b="1" i="0" u="none" strike="noStrike" cap="none">
              <a:solidFill>
                <a:srgbClr val="464444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29" name="Google Shape;29;p10" title="標語_中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11550" y="6534225"/>
            <a:ext cx="1071550" cy="12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10" title="金控_中_彩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248175"/>
            <a:ext cx="1602775" cy="609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" name="Google Shape;31;p10"/>
          <p:cNvCxnSpPr/>
          <p:nvPr/>
        </p:nvCxnSpPr>
        <p:spPr>
          <a:xfrm>
            <a:off x="1597301" y="6445831"/>
            <a:ext cx="8341800" cy="0"/>
          </a:xfrm>
          <a:prstGeom prst="straightConnector1">
            <a:avLst/>
          </a:prstGeom>
          <a:noFill/>
          <a:ln w="19050" cap="flat" cmpd="sng">
            <a:solidFill>
              <a:srgbClr val="D70C1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" name="Google Shape;32;p10"/>
          <p:cNvCxnSpPr/>
          <p:nvPr/>
        </p:nvCxnSpPr>
        <p:spPr>
          <a:xfrm rot="10800000">
            <a:off x="9939225" y="6445838"/>
            <a:ext cx="1446600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6014893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章節標題" preserve="1">
  <p:cSld name="2_章節標題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設計 的圖片&#10;&#10;AI 產生的內容可能不正確。">
            <a:extLst>
              <a:ext uri="{FF2B5EF4-FFF2-40B4-BE49-F238E27FC236}">
                <a16:creationId xmlns:a16="http://schemas.microsoft.com/office/drawing/2014/main" id="{3B5AF3D8-B199-5417-755A-9D51D04F6E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34" name="Google Shape;34;p11"/>
          <p:cNvSpPr txBox="1">
            <a:spLocks noGrp="1"/>
          </p:cNvSpPr>
          <p:nvPr>
            <p:ph type="title"/>
          </p:nvPr>
        </p:nvSpPr>
        <p:spPr>
          <a:xfrm>
            <a:off x="831851" y="4128475"/>
            <a:ext cx="10515600" cy="16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444"/>
              </a:buClr>
              <a:buSzPts val="4800"/>
              <a:buNone/>
              <a:defRPr sz="4800" i="0">
                <a:solidFill>
                  <a:srgbClr val="46444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pic>
        <p:nvPicPr>
          <p:cNvPr id="35" name="Google Shape;35;p11" title="金控_中_白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8100" y="688548"/>
            <a:ext cx="5575550" cy="21215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222997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D00B95-F112-B8B7-381C-1E417E4AB9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7BE2AAC-90E4-D32C-C2EC-A159487F55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8B5046B-CF36-90D5-96AF-C53DBA745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F5755-7018-4945-A46B-2B4DE79FC767}" type="datetimeFigureOut">
              <a:rPr kumimoji="1" lang="zh-TW" altLang="en-US" smtClean="0"/>
              <a:t>2026/5/27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C4874EB-7423-DBD2-1C7B-424E851D8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530B08D-6B26-34AE-92D0-8D2AB1E7F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7DD83-9373-1C49-B3EB-CD40710A3CC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26433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body" idx="1"/>
          </p:nvPr>
        </p:nvSpPr>
        <p:spPr>
          <a:xfrm>
            <a:off x="519290" y="1176425"/>
            <a:ext cx="11091600" cy="50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F0000"/>
              </a:buClr>
              <a:buSzPts val="2400"/>
              <a:buFont typeface="Microsoft JhengHei"/>
              <a:buChar char="■"/>
              <a:defRPr sz="24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F0000"/>
              </a:buClr>
              <a:buSzPts val="2000"/>
              <a:buFont typeface="Microsoft JhengHei"/>
              <a:buChar char="■"/>
              <a:defRPr sz="20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F0000"/>
              </a:buClr>
              <a:buSzPts val="1600"/>
              <a:buFont typeface="Microsoft JhengHei"/>
              <a:buChar char="■"/>
              <a:defRPr sz="16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64444"/>
              </a:buClr>
              <a:buSzPts val="1600"/>
              <a:buFont typeface="Microsoft JhengHei"/>
              <a:buNone/>
              <a:defRPr sz="16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64444"/>
              </a:buClr>
              <a:buSzPts val="2400"/>
              <a:buFont typeface="Microsoft JhengHei"/>
              <a:buChar char="•"/>
              <a:defRPr sz="24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•"/>
              <a:defRPr sz="18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•"/>
              <a:defRPr sz="18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•"/>
              <a:defRPr sz="18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•"/>
              <a:defRPr sz="18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title"/>
          </p:nvPr>
        </p:nvSpPr>
        <p:spPr>
          <a:xfrm>
            <a:off x="519290" y="259072"/>
            <a:ext cx="11091685" cy="759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444"/>
              </a:buClr>
              <a:buSzPts val="3000"/>
              <a:buFont typeface="Microsoft JhengHei"/>
              <a:buNone/>
              <a:defRPr sz="30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sldNum" idx="12"/>
          </p:nvPr>
        </p:nvSpPr>
        <p:spPr>
          <a:xfrm flipH="1">
            <a:off x="11397425" y="6394525"/>
            <a:ext cx="6513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407058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157633" y="2326958"/>
            <a:ext cx="5876734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4D4D4D"/>
                </a:solidFill>
                <a:latin typeface="微軟正黑體"/>
                <a:ea typeface="Microsoft JhengHei"/>
                <a:cs typeface="微軟正黑體"/>
              </a:rPr>
              <a:t>信用卡市場分析與經營洞察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871436" y="3044190"/>
            <a:ext cx="444912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5D5D5D"/>
                </a:solidFill>
                <a:latin typeface="微軟正黑體"/>
                <a:ea typeface="Microsoft JhengHei"/>
                <a:cs typeface="微軟正黑體"/>
              </a:rPr>
              <a:t>114 年 1-12 月信用卡業務數據深度解析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200650" y="4600575"/>
            <a:ext cx="17907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5D5D5D"/>
                </a:solidFill>
                <a:latin typeface="微軟正黑體"/>
                <a:ea typeface="Microsoft JhengHei"/>
                <a:cs typeface="微軟正黑體"/>
              </a:rPr>
              <a:t>台新國際商業銀行</a:t>
            </a:r>
          </a:p>
        </p:txBody>
      </p:sp>
      <p:pic>
        <p:nvPicPr>
          <p:cNvPr id="6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6874" y="5695950"/>
            <a:ext cx="2778252" cy="105727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33425" y="614362"/>
            <a:ext cx="71437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1A1A1A"/>
                </a:solidFill>
                <a:latin typeface="微軟正黑體"/>
                <a:ea typeface="Microsoft JhengHei"/>
                <a:cs typeface="微軟正黑體"/>
              </a:rPr>
              <a:t>目錄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85850" y="1577340"/>
            <a:ext cx="4396549" cy="3032760"/>
            <a:chOff x="1085850" y="1577340"/>
            <a:chExt cx="4396549" cy="3032760"/>
          </a:xfrm>
        </p:grpSpPr>
        <p:grpSp>
          <p:nvGrpSpPr>
            <p:cNvPr id="6" name="Group 6"/>
            <p:cNvGrpSpPr/>
            <p:nvPr/>
          </p:nvGrpSpPr>
          <p:grpSpPr>
            <a:xfrm>
              <a:off x="1085850" y="1577340"/>
              <a:ext cx="4396549" cy="365760"/>
              <a:chOff x="1085850" y="1577340"/>
              <a:chExt cx="4396549" cy="365760"/>
            </a:xfrm>
          </p:grpSpPr>
          <p:sp>
            <p:nvSpPr>
              <p:cNvPr id="4" name="Ellipse 4"/>
              <p:cNvSpPr/>
              <p:nvPr/>
            </p:nvSpPr>
            <p:spPr>
              <a:xfrm>
                <a:off x="1085850" y="1657350"/>
                <a:ext cx="114300" cy="114300"/>
              </a:xfrm>
              <a:prstGeom prst="ellipse">
                <a:avLst/>
              </a:prstGeom>
              <a:solidFill>
                <a:srgbClr val="C12026"/>
              </a:solidFill>
              <a:ln>
                <a:noFill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1348740" y="1577340"/>
                <a:ext cx="4133659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333333"/>
                    </a:solidFill>
                    <a:latin typeface="微軟正黑體"/>
                    <a:ea typeface="Microsoft JhengHei"/>
                    <a:cs typeface="微軟正黑體"/>
                  </a:rPr>
                  <a:t>Executive Summary 管理重點摘要</a:t>
                </a:r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085850" y="2244090"/>
              <a:ext cx="3200400" cy="365760"/>
              <a:chOff x="1085850" y="2244090"/>
              <a:chExt cx="3200400" cy="365760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1085850" y="2324100"/>
                <a:ext cx="114300" cy="114300"/>
              </a:xfrm>
              <a:prstGeom prst="ellipse">
                <a:avLst/>
              </a:prstGeom>
              <a:solidFill>
                <a:srgbClr val="C12026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348740" y="2244090"/>
                <a:ext cx="293751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333333"/>
                    </a:solidFill>
                    <a:latin typeface="微軟正黑體"/>
                    <a:ea typeface="Microsoft JhengHei"/>
                    <a:cs typeface="微軟正黑體"/>
                  </a:rPr>
                  <a:t>市場整體概況與規模趨勢</a:t>
                </a:r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085850" y="2910840"/>
              <a:ext cx="2674620" cy="365760"/>
              <a:chOff x="1085850" y="2910840"/>
              <a:chExt cx="2674620" cy="365760"/>
            </a:xfrm>
          </p:grpSpPr>
          <p:sp>
            <p:nvSpPr>
              <p:cNvPr id="10" name="Ellipse 10"/>
              <p:cNvSpPr/>
              <p:nvPr/>
            </p:nvSpPr>
            <p:spPr>
              <a:xfrm>
                <a:off x="1085850" y="2990850"/>
                <a:ext cx="114300" cy="114300"/>
              </a:xfrm>
              <a:prstGeom prst="ellipse">
                <a:avLst/>
              </a:prstGeom>
              <a:solidFill>
                <a:srgbClr val="C12026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348740" y="2910840"/>
                <a:ext cx="241173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333333"/>
                    </a:solidFill>
                    <a:latin typeface="微軟正黑體"/>
                    <a:ea typeface="Microsoft JhengHei"/>
                    <a:cs typeface="微軟正黑體"/>
                  </a:rPr>
                  <a:t>同業成長及競爭分析</a:t>
                </a: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085850" y="3577590"/>
              <a:ext cx="2937510" cy="365760"/>
              <a:chOff x="1085850" y="3577590"/>
              <a:chExt cx="2937510" cy="365760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1085850" y="3657600"/>
                <a:ext cx="114300" cy="114300"/>
              </a:xfrm>
              <a:prstGeom prst="ellipse">
                <a:avLst/>
              </a:prstGeom>
              <a:solidFill>
                <a:srgbClr val="C12026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348740" y="3577590"/>
                <a:ext cx="267462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333333"/>
                    </a:solidFill>
                    <a:latin typeface="微軟正黑體"/>
                    <a:ea typeface="Microsoft JhengHei"/>
                    <a:cs typeface="微軟正黑體"/>
                  </a:rPr>
                  <a:t>客戶活躍度與獲利能力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085850" y="4244340"/>
              <a:ext cx="3200400" cy="365760"/>
              <a:chOff x="1085850" y="4244340"/>
              <a:chExt cx="3200400" cy="365760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1085850" y="4324350"/>
                <a:ext cx="114300" cy="114300"/>
              </a:xfrm>
              <a:prstGeom prst="ellipse">
                <a:avLst/>
              </a:prstGeom>
              <a:solidFill>
                <a:srgbClr val="C12026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348740" y="4244340"/>
                <a:ext cx="293751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333333"/>
                    </a:solidFill>
                    <a:latin typeface="微軟正黑體"/>
                    <a:ea typeface="Microsoft JhengHei"/>
                    <a:cs typeface="微軟正黑體"/>
                  </a:rPr>
                  <a:t>風險分析與台新策略建議</a:t>
                </a:r>
              </a:p>
            </p:txBody>
          </p:sp>
        </p:grpSp>
      </p:grpSp>
      <p:pic>
        <p:nvPicPr>
          <p:cNvPr id="20" name="Imag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228" y="6229350"/>
            <a:ext cx="1576864" cy="600075"/>
          </a:xfrm>
          <a:prstGeom prst="rect">
            <a:avLst/>
          </a:prstGeom>
        </p:spPr>
      </p:pic>
      <p:sp>
        <p:nvSpPr>
          <p:cNvPr id="21" name="Rectangle 21"/>
          <p:cNvSpPr/>
          <p:nvPr/>
        </p:nvSpPr>
        <p:spPr>
          <a:xfrm>
            <a:off x="1952625" y="6457950"/>
            <a:ext cx="8334375" cy="14288"/>
          </a:xfrm>
          <a:prstGeom prst="rect">
            <a:avLst/>
          </a:prstGeom>
          <a:solidFill>
            <a:srgbClr val="C12026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10287000" y="6457950"/>
            <a:ext cx="1457325" cy="14288"/>
          </a:xfrm>
          <a:prstGeom prst="rect">
            <a:avLst/>
          </a:prstGeom>
          <a:solidFill>
            <a:srgbClr val="CCCCCC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1999071" y="6611302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微軟正黑體"/>
                <a:ea typeface="Microsoft JhengHei"/>
                <a:cs typeface="微軟正黑體"/>
              </a:rPr>
              <a:t>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567606" y="6611302"/>
            <a:ext cx="11614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智  慧  好  夥  伴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33425" y="614362"/>
            <a:ext cx="544639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1A1A1A"/>
                </a:solidFill>
                <a:latin typeface="微軟正黑體"/>
                <a:ea typeface="Microsoft JhengHei"/>
                <a:cs typeface="微軟正黑體"/>
              </a:rPr>
              <a:t>Executive Summary — 管理重點摘要</a:t>
            </a:r>
          </a:p>
        </p:txBody>
      </p:sp>
      <p:sp>
        <p:nvSpPr>
          <p:cNvPr id="4" name="Freeform 4"/>
          <p:cNvSpPr/>
          <p:nvPr/>
        </p:nvSpPr>
        <p:spPr>
          <a:xfrm>
            <a:off x="762000" y="1381125"/>
            <a:ext cx="2524125" cy="1238250"/>
          </a:xfrm>
          <a:custGeom>
            <a:avLst/>
            <a:gdLst/>
            <a:ahLst/>
            <a:cxnLst/>
            <a:rect l="l" t="t" r="r" b="b"/>
            <a:pathLst>
              <a:path w="2524125" h="1238250">
                <a:moveTo>
                  <a:pt x="76200" y="0"/>
                </a:moveTo>
                <a:lnTo>
                  <a:pt x="2447925" y="0"/>
                </a:lnTo>
                <a:cubicBezTo>
                  <a:pt x="2490009" y="0"/>
                  <a:pt x="2524125" y="34116"/>
                  <a:pt x="2524125" y="76200"/>
                </a:cubicBezTo>
                <a:lnTo>
                  <a:pt x="2524125" y="1162050"/>
                </a:lnTo>
                <a:cubicBezTo>
                  <a:pt x="2524125" y="1204134"/>
                  <a:pt x="2490009" y="1238250"/>
                  <a:pt x="2447925" y="1238250"/>
                </a:cubicBezTo>
                <a:lnTo>
                  <a:pt x="76200" y="1238250"/>
                </a:lnTo>
                <a:cubicBezTo>
                  <a:pt x="34116" y="1238250"/>
                  <a:pt x="0" y="1204134"/>
                  <a:pt x="0" y="1162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9F9F9"/>
          </a:solidFill>
          <a:ln w="9525">
            <a:solidFill>
              <a:srgbClr val="E0E0E0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1140905" y="1584960"/>
            <a:ext cx="17567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66666"/>
                </a:solidFill>
                <a:latin typeface="微軟正黑體"/>
                <a:ea typeface="Microsoft JhengHei"/>
                <a:cs typeface="微軟正黑體"/>
              </a:rPr>
              <a:t>市場流通卡數（12月）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6555" y="1899285"/>
            <a:ext cx="174549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C12026"/>
                </a:solidFill>
                <a:latin typeface="微軟正黑體"/>
                <a:ea typeface="Microsoft JhengHei"/>
                <a:cs typeface="微軟正黑體"/>
              </a:rPr>
              <a:t>6,049 萬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64756" y="2344102"/>
            <a:ext cx="7090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D4D4D"/>
                </a:solidFill>
                <a:latin typeface="微軟正黑體"/>
                <a:ea typeface="Microsoft JhengHei"/>
                <a:cs typeface="微軟正黑體"/>
              </a:rPr>
              <a:t>YoY +3.1%</a:t>
            </a:r>
          </a:p>
        </p:txBody>
      </p:sp>
      <p:sp>
        <p:nvSpPr>
          <p:cNvPr id="8" name="Freeform 8"/>
          <p:cNvSpPr/>
          <p:nvPr/>
        </p:nvSpPr>
        <p:spPr>
          <a:xfrm>
            <a:off x="3476625" y="1381125"/>
            <a:ext cx="2524125" cy="1238250"/>
          </a:xfrm>
          <a:custGeom>
            <a:avLst/>
            <a:gdLst/>
            <a:ahLst/>
            <a:cxnLst/>
            <a:rect l="l" t="t" r="r" b="b"/>
            <a:pathLst>
              <a:path w="2524125" h="1238250">
                <a:moveTo>
                  <a:pt x="76200" y="0"/>
                </a:moveTo>
                <a:lnTo>
                  <a:pt x="2447925" y="0"/>
                </a:lnTo>
                <a:cubicBezTo>
                  <a:pt x="2490009" y="0"/>
                  <a:pt x="2524125" y="34116"/>
                  <a:pt x="2524125" y="76200"/>
                </a:cubicBezTo>
                <a:lnTo>
                  <a:pt x="2524125" y="1162050"/>
                </a:lnTo>
                <a:cubicBezTo>
                  <a:pt x="2524125" y="1204134"/>
                  <a:pt x="2490009" y="1238250"/>
                  <a:pt x="2447925" y="1238250"/>
                </a:cubicBezTo>
                <a:lnTo>
                  <a:pt x="76200" y="1238250"/>
                </a:lnTo>
                <a:cubicBezTo>
                  <a:pt x="34116" y="1238250"/>
                  <a:pt x="0" y="1204134"/>
                  <a:pt x="0" y="1162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9F9F9"/>
          </a:solidFill>
          <a:ln w="9525">
            <a:solidFill>
              <a:srgbClr val="E0E0E0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3855529" y="1584960"/>
            <a:ext cx="17567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66666"/>
                </a:solidFill>
                <a:latin typeface="微軟正黑體"/>
                <a:ea typeface="Microsoft JhengHei"/>
                <a:cs typeface="微軟正黑體"/>
              </a:rPr>
              <a:t>月均簽帳金額（12月）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861180" y="1899285"/>
            <a:ext cx="174549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C12026"/>
                </a:solidFill>
                <a:latin typeface="微軟正黑體"/>
                <a:ea typeface="Microsoft JhengHei"/>
                <a:cs typeface="微軟正黑體"/>
              </a:rPr>
              <a:t>4,537 億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318040" y="2344102"/>
            <a:ext cx="8317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D4D4D"/>
                </a:solidFill>
                <a:latin typeface="微軟正黑體"/>
                <a:ea typeface="Microsoft JhengHei"/>
                <a:cs typeface="微軟正黑體"/>
              </a:rPr>
              <a:t>YoY +33.9%</a:t>
            </a:r>
          </a:p>
        </p:txBody>
      </p:sp>
      <p:sp>
        <p:nvSpPr>
          <p:cNvPr id="12" name="Freeform 12"/>
          <p:cNvSpPr/>
          <p:nvPr/>
        </p:nvSpPr>
        <p:spPr>
          <a:xfrm>
            <a:off x="6191250" y="1381125"/>
            <a:ext cx="2524125" cy="1238250"/>
          </a:xfrm>
          <a:custGeom>
            <a:avLst/>
            <a:gdLst/>
            <a:ahLst/>
            <a:cxnLst/>
            <a:rect l="l" t="t" r="r" b="b"/>
            <a:pathLst>
              <a:path w="2524125" h="1238250">
                <a:moveTo>
                  <a:pt x="76200" y="0"/>
                </a:moveTo>
                <a:lnTo>
                  <a:pt x="2447925" y="0"/>
                </a:lnTo>
                <a:cubicBezTo>
                  <a:pt x="2490009" y="0"/>
                  <a:pt x="2524125" y="34116"/>
                  <a:pt x="2524125" y="76200"/>
                </a:cubicBezTo>
                <a:lnTo>
                  <a:pt x="2524125" y="1162050"/>
                </a:lnTo>
                <a:cubicBezTo>
                  <a:pt x="2524125" y="1204134"/>
                  <a:pt x="2490009" y="1238250"/>
                  <a:pt x="2447925" y="1238250"/>
                </a:cubicBezTo>
                <a:lnTo>
                  <a:pt x="76200" y="1238250"/>
                </a:lnTo>
                <a:cubicBezTo>
                  <a:pt x="34116" y="1238250"/>
                  <a:pt x="0" y="1204134"/>
                  <a:pt x="0" y="1162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9F9F9"/>
          </a:solidFill>
          <a:ln w="9525">
            <a:solidFill>
              <a:srgbClr val="E0E0E0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6557010" y="1584960"/>
            <a:ext cx="17830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66666"/>
                </a:solidFill>
                <a:latin typeface="微軟正黑體"/>
                <a:ea typeface="Microsoft JhengHei"/>
                <a:cs typeface="微軟正黑體"/>
              </a:rPr>
              <a:t>台新市占率（流通卡）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948452" y="1899285"/>
            <a:ext cx="100019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C12026"/>
                </a:solidFill>
                <a:latin typeface="微軟正黑體"/>
                <a:ea typeface="Microsoft JhengHei"/>
                <a:cs typeface="微軟正黑體"/>
              </a:rPr>
              <a:t>11.0%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128510" y="23441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D4D4D"/>
                </a:solidFill>
                <a:latin typeface="微軟正黑體"/>
                <a:ea typeface="Microsoft JhengHei"/>
                <a:cs typeface="微軟正黑體"/>
              </a:rPr>
              <a:t>排名第五</a:t>
            </a:r>
          </a:p>
        </p:txBody>
      </p:sp>
      <p:sp>
        <p:nvSpPr>
          <p:cNvPr id="16" name="Freeform 16"/>
          <p:cNvSpPr/>
          <p:nvPr/>
        </p:nvSpPr>
        <p:spPr>
          <a:xfrm>
            <a:off x="8905875" y="1381125"/>
            <a:ext cx="2524125" cy="1238250"/>
          </a:xfrm>
          <a:custGeom>
            <a:avLst/>
            <a:gdLst/>
            <a:ahLst/>
            <a:cxnLst/>
            <a:rect l="l" t="t" r="r" b="b"/>
            <a:pathLst>
              <a:path w="2524125" h="1238250">
                <a:moveTo>
                  <a:pt x="76200" y="0"/>
                </a:moveTo>
                <a:lnTo>
                  <a:pt x="2447925" y="0"/>
                </a:lnTo>
                <a:cubicBezTo>
                  <a:pt x="2490009" y="0"/>
                  <a:pt x="2524125" y="34116"/>
                  <a:pt x="2524125" y="76200"/>
                </a:cubicBezTo>
                <a:lnTo>
                  <a:pt x="2524125" y="1162050"/>
                </a:lnTo>
                <a:cubicBezTo>
                  <a:pt x="2524125" y="1204134"/>
                  <a:pt x="2490009" y="1238250"/>
                  <a:pt x="2447925" y="1238250"/>
                </a:cubicBezTo>
                <a:lnTo>
                  <a:pt x="76200" y="1238250"/>
                </a:lnTo>
                <a:cubicBezTo>
                  <a:pt x="34116" y="1238250"/>
                  <a:pt x="0" y="1204134"/>
                  <a:pt x="0" y="1162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9F9F9"/>
          </a:solidFill>
          <a:ln w="9525">
            <a:solidFill>
              <a:srgbClr val="E0E0E0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9622155" y="1584960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66666"/>
                </a:solidFill>
                <a:latin typeface="微軟正黑體"/>
                <a:ea typeface="Microsoft JhengHei"/>
                <a:cs typeface="微軟正黑體"/>
              </a:rPr>
              <a:t>台新有效卡率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559564" y="1899285"/>
            <a:ext cx="120722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C12026"/>
                </a:solidFill>
                <a:latin typeface="微軟正黑體"/>
                <a:ea typeface="Microsoft JhengHei"/>
                <a:cs typeface="微軟正黑體"/>
              </a:rPr>
              <a:t>73.2%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689782" y="234410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D4D4D"/>
                </a:solidFill>
                <a:latin typeface="微軟正黑體"/>
                <a:ea typeface="Microsoft JhengHei"/>
                <a:cs typeface="微軟正黑體"/>
              </a:rPr>
              <a:t>同業水準偏上</a:t>
            </a:r>
          </a:p>
        </p:txBody>
      </p:sp>
      <p:sp>
        <p:nvSpPr>
          <p:cNvPr id="20" name="Freeform 20"/>
          <p:cNvSpPr/>
          <p:nvPr/>
        </p:nvSpPr>
        <p:spPr>
          <a:xfrm>
            <a:off x="762000" y="2952750"/>
            <a:ext cx="10668000" cy="3143250"/>
          </a:xfrm>
          <a:custGeom>
            <a:avLst/>
            <a:gdLst/>
            <a:ahLst/>
            <a:cxnLst/>
            <a:rect l="l" t="t" r="r" b="b"/>
            <a:pathLst>
              <a:path w="10668000" h="3143250">
                <a:moveTo>
                  <a:pt x="76200" y="0"/>
                </a:moveTo>
                <a:lnTo>
                  <a:pt x="10591800" y="0"/>
                </a:lnTo>
                <a:cubicBezTo>
                  <a:pt x="10633884" y="0"/>
                  <a:pt x="10668000" y="34116"/>
                  <a:pt x="10668000" y="76200"/>
                </a:cubicBezTo>
                <a:lnTo>
                  <a:pt x="10668000" y="3067050"/>
                </a:lnTo>
                <a:cubicBezTo>
                  <a:pt x="10668000" y="3109134"/>
                  <a:pt x="10633884" y="3143250"/>
                  <a:pt x="10591800" y="3143250"/>
                </a:cubicBezTo>
                <a:lnTo>
                  <a:pt x="76200" y="3143250"/>
                </a:lnTo>
                <a:cubicBezTo>
                  <a:pt x="34116" y="3143250"/>
                  <a:pt x="0" y="3109134"/>
                  <a:pt x="0" y="3067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9F9F9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42950" y="3171825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12026"/>
                </a:solidFill>
                <a:latin typeface="微軟正黑體"/>
                <a:ea typeface="Microsoft JhengHei"/>
                <a:cs typeface="微軟正黑體"/>
              </a:rPr>
              <a:t>四大關鍵洞察</a:t>
            </a:r>
          </a:p>
        </p:txBody>
      </p:sp>
      <p:sp>
        <p:nvSpPr>
          <p:cNvPr id="22" name="Freeform 22"/>
          <p:cNvSpPr/>
          <p:nvPr/>
        </p:nvSpPr>
        <p:spPr>
          <a:xfrm>
            <a:off x="952500" y="3524250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28575" y="0"/>
                </a:moveTo>
                <a:lnTo>
                  <a:pt x="114300" y="0"/>
                </a:lnTo>
                <a:cubicBezTo>
                  <a:pt x="130082" y="0"/>
                  <a:pt x="142875" y="12793"/>
                  <a:pt x="142875" y="28575"/>
                </a:cubicBezTo>
                <a:lnTo>
                  <a:pt x="142875" y="114300"/>
                </a:lnTo>
                <a:cubicBezTo>
                  <a:pt x="142875" y="130082"/>
                  <a:pt x="130082" y="142875"/>
                  <a:pt x="114300" y="142875"/>
                </a:cubicBezTo>
                <a:lnTo>
                  <a:pt x="28575" y="142875"/>
                </a:lnTo>
                <a:cubicBezTo>
                  <a:pt x="12793" y="142875"/>
                  <a:pt x="0" y="130082"/>
                  <a:pt x="0" y="11430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C12026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221105" y="3511868"/>
            <a:ext cx="334670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微軟正黑體"/>
                <a:ea typeface="Microsoft JhengHei"/>
                <a:cs typeface="微軟正黑體"/>
              </a:rPr>
              <a:t>市場成長由簽帳額驅動，非卡數擴張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23962" y="3783806"/>
            <a:ext cx="52206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D4D4D"/>
                </a:solidFill>
                <a:latin typeface="微軟正黑體"/>
                <a:ea typeface="Microsoft JhengHei"/>
                <a:cs typeface="微軟正黑體"/>
              </a:rPr>
              <a:t>流通卡數 YoY 僅 +3.1%，但簽帳金額 YoY +33.9%。市場進入存量競爭，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23962" y="3974306"/>
            <a:ext cx="39719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D4D4D"/>
                </a:solidFill>
                <a:latin typeface="微軟正黑體"/>
                <a:ea typeface="Microsoft JhengHei"/>
                <a:cs typeface="微軟正黑體"/>
              </a:rPr>
              <a:t>同業競爭焦點轉向單卡消費力提升與數位生態圈經營。</a:t>
            </a:r>
          </a:p>
        </p:txBody>
      </p:sp>
      <p:sp>
        <p:nvSpPr>
          <p:cNvPr id="26" name="Freeform 26"/>
          <p:cNvSpPr/>
          <p:nvPr/>
        </p:nvSpPr>
        <p:spPr>
          <a:xfrm>
            <a:off x="952500" y="4333875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28575" y="0"/>
                </a:moveTo>
                <a:lnTo>
                  <a:pt x="114300" y="0"/>
                </a:lnTo>
                <a:cubicBezTo>
                  <a:pt x="130082" y="0"/>
                  <a:pt x="142875" y="12793"/>
                  <a:pt x="142875" y="28575"/>
                </a:cubicBezTo>
                <a:lnTo>
                  <a:pt x="142875" y="114300"/>
                </a:lnTo>
                <a:cubicBezTo>
                  <a:pt x="142875" y="130082"/>
                  <a:pt x="130082" y="142875"/>
                  <a:pt x="114300" y="142875"/>
                </a:cubicBezTo>
                <a:lnTo>
                  <a:pt x="28575" y="142875"/>
                </a:lnTo>
                <a:cubicBezTo>
                  <a:pt x="12793" y="142875"/>
                  <a:pt x="0" y="130082"/>
                  <a:pt x="0" y="11430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C12026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221105" y="4321492"/>
            <a:ext cx="376075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微軟正黑體"/>
                <a:ea typeface="Microsoft JhengHei"/>
                <a:cs typeface="微軟正黑體"/>
              </a:rPr>
              <a:t>玉山以激進發卡攻市占，但有效卡率偏低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23962" y="4593431"/>
            <a:ext cx="436626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D4D4D"/>
                </a:solidFill>
                <a:latin typeface="微軟正黑體"/>
                <a:ea typeface="Microsoft JhengHei"/>
                <a:cs typeface="微軟正黑體"/>
              </a:rPr>
              <a:t>玉山流通卡數 YoY +17.0% 全行最高，但有效卡率僅 61.0%，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23962" y="4783931"/>
            <a:ext cx="39719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D4D4D"/>
                </a:solidFill>
                <a:latin typeface="微軟正黑體"/>
                <a:ea typeface="Microsoft JhengHei"/>
                <a:cs typeface="微軟正黑體"/>
              </a:rPr>
              <a:t>大量卡戶沉沒，反映「以量取勝」模式轉換效率不佳。</a:t>
            </a:r>
          </a:p>
        </p:txBody>
      </p:sp>
      <p:sp>
        <p:nvSpPr>
          <p:cNvPr id="30" name="Freeform 30"/>
          <p:cNvSpPr/>
          <p:nvPr/>
        </p:nvSpPr>
        <p:spPr>
          <a:xfrm>
            <a:off x="952500" y="5143500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28575" y="0"/>
                </a:moveTo>
                <a:lnTo>
                  <a:pt x="114300" y="0"/>
                </a:lnTo>
                <a:cubicBezTo>
                  <a:pt x="130082" y="0"/>
                  <a:pt x="142875" y="12793"/>
                  <a:pt x="142875" y="28575"/>
                </a:cubicBezTo>
                <a:lnTo>
                  <a:pt x="142875" y="114300"/>
                </a:lnTo>
                <a:cubicBezTo>
                  <a:pt x="142875" y="130082"/>
                  <a:pt x="130082" y="142875"/>
                  <a:pt x="114300" y="142875"/>
                </a:cubicBezTo>
                <a:lnTo>
                  <a:pt x="28575" y="142875"/>
                </a:lnTo>
                <a:cubicBezTo>
                  <a:pt x="12793" y="142875"/>
                  <a:pt x="0" y="130082"/>
                  <a:pt x="0" y="11430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C12026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221105" y="5131118"/>
            <a:ext cx="420586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微軟正黑體"/>
                <a:ea typeface="Microsoft JhengHei"/>
                <a:cs typeface="微軟正黑體"/>
              </a:rPr>
              <a:t>台新簽帳金額年增 36.6%，增速居 Top 5 前列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23962" y="5403056"/>
            <a:ext cx="577929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D4D4D"/>
                </a:solidFill>
                <a:latin typeface="微軟正黑體"/>
                <a:ea typeface="Microsoft JhengHei"/>
                <a:cs typeface="微軟正黑體"/>
              </a:rPr>
              <a:t>台新流通卡數 YoY +0.8% 近乎持平，但簽帳金額從 3,542 億躍升至 4,840 億，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23962" y="5593556"/>
            <a:ext cx="44648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D4D4D"/>
                </a:solidFill>
                <a:latin typeface="微軟正黑體"/>
                <a:ea typeface="Microsoft JhengHei"/>
                <a:cs typeface="微軟正黑體"/>
              </a:rPr>
              <a:t>顯示既存客戶消費黏著度大幅提升，品質成長優於數量擴張。</a:t>
            </a:r>
          </a:p>
        </p:txBody>
      </p:sp>
      <p:sp>
        <p:nvSpPr>
          <p:cNvPr id="34" name="Freeform 34"/>
          <p:cNvSpPr/>
          <p:nvPr/>
        </p:nvSpPr>
        <p:spPr>
          <a:xfrm>
            <a:off x="952500" y="5953125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28575" y="0"/>
                </a:moveTo>
                <a:lnTo>
                  <a:pt x="114300" y="0"/>
                </a:lnTo>
                <a:cubicBezTo>
                  <a:pt x="130082" y="0"/>
                  <a:pt x="142875" y="12793"/>
                  <a:pt x="142875" y="28575"/>
                </a:cubicBezTo>
                <a:lnTo>
                  <a:pt x="142875" y="114300"/>
                </a:lnTo>
                <a:cubicBezTo>
                  <a:pt x="142875" y="130082"/>
                  <a:pt x="130082" y="142875"/>
                  <a:pt x="114300" y="142875"/>
                </a:cubicBezTo>
                <a:lnTo>
                  <a:pt x="28575" y="142875"/>
                </a:lnTo>
                <a:cubicBezTo>
                  <a:pt x="12793" y="142875"/>
                  <a:pt x="0" y="130082"/>
                  <a:pt x="0" y="11430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C12026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1221105" y="5940742"/>
            <a:ext cx="35537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微軟正黑體"/>
                <a:ea typeface="Microsoft JhengHei"/>
                <a:cs typeface="微軟正黑體"/>
              </a:rPr>
              <a:t>新進競爭者（樂天）呆帳風險顯著偏高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23962" y="6155531"/>
            <a:ext cx="490025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D4D4D"/>
                </a:solidFill>
                <a:latin typeface="微軟正黑體"/>
                <a:ea typeface="Microsoft JhengHei"/>
                <a:cs typeface="微軟正黑體"/>
              </a:rPr>
              <a:t>樂天逾期三個月以上比率達 2.02%，為同業平均 0.24% 的 8.4 倍，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23962" y="6346031"/>
            <a:ext cx="38076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D4D4D"/>
                </a:solidFill>
                <a:latin typeface="微軟正黑體"/>
                <a:ea typeface="Microsoft JhengHei"/>
                <a:cs typeface="微軟正黑體"/>
              </a:rPr>
              <a:t>高風險客群擴張對市場整體信用品質構成潛在威脅。</a:t>
            </a:r>
          </a:p>
        </p:txBody>
      </p:sp>
      <p:pic>
        <p:nvPicPr>
          <p:cNvPr id="38" name="Imag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228" y="6229350"/>
            <a:ext cx="1576864" cy="600075"/>
          </a:xfrm>
          <a:prstGeom prst="rect">
            <a:avLst/>
          </a:prstGeom>
        </p:spPr>
      </p:pic>
      <p:sp>
        <p:nvSpPr>
          <p:cNvPr id="39" name="Rectangle 39"/>
          <p:cNvSpPr/>
          <p:nvPr/>
        </p:nvSpPr>
        <p:spPr>
          <a:xfrm>
            <a:off x="1952625" y="6457950"/>
            <a:ext cx="8334375" cy="14288"/>
          </a:xfrm>
          <a:prstGeom prst="rect">
            <a:avLst/>
          </a:prstGeom>
          <a:solidFill>
            <a:srgbClr val="C12026"/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10287000" y="6457950"/>
            <a:ext cx="1457325" cy="14288"/>
          </a:xfrm>
          <a:prstGeom prst="rect">
            <a:avLst/>
          </a:prstGeom>
          <a:solidFill>
            <a:srgbClr val="CCCCCC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11999071" y="6611302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微軟正黑體"/>
                <a:ea typeface="Microsoft JhengHei"/>
                <a:cs typeface="微軟正黑體"/>
              </a:rPr>
              <a:t>3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567606" y="6611302"/>
            <a:ext cx="11614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智  慧  好  夥  伴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FC0DD58-F3A8-4CCB-A340-C263454BD94C}"/>
              </a:ext>
            </a:extLst>
          </p:cNvPr>
          <p:cNvSpPr/>
          <p:nvPr/>
        </p:nvSpPr>
        <p:spPr>
          <a:xfrm>
            <a:off x="1549667" y="2308859"/>
            <a:ext cx="980173" cy="248603"/>
          </a:xfrm>
          <a:prstGeom prst="rect">
            <a:avLst/>
          </a:prstGeom>
          <a:solidFill>
            <a:srgbClr val="FFFF00">
              <a:alpha val="20000"/>
            </a:srgbClr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10CACC98-9833-48DC-8AD6-8F0A41BDC226}"/>
              </a:ext>
            </a:extLst>
          </p:cNvPr>
          <p:cNvSpPr txBox="1"/>
          <p:nvPr/>
        </p:nvSpPr>
        <p:spPr>
          <a:xfrm>
            <a:off x="1320381" y="2667358"/>
            <a:ext cx="6494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未給系統</a:t>
            </a:r>
            <a:r>
              <a:rPr lang="en-US" altLang="zh-TW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113</a:t>
            </a:r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TW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12</a:t>
            </a:r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月資料，如何計算</a:t>
            </a:r>
            <a:r>
              <a:rPr lang="en-US" altLang="zh-TW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YOY</a:t>
            </a:r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？ 代表該數值有問題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5472589" y="2584132"/>
            <a:ext cx="124682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C12026"/>
                </a:solidFill>
                <a:latin typeface="微軟正黑體"/>
                <a:ea typeface="Microsoft JhengHei"/>
                <a:cs typeface="微軟正黑體"/>
              </a:rPr>
              <a:t>CHAPTER 01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394073" y="2849880"/>
            <a:ext cx="3403854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4D4D4D"/>
                </a:solidFill>
                <a:latin typeface="微軟正黑體"/>
                <a:ea typeface="Microsoft JhengHei"/>
                <a:cs typeface="微軟正黑體"/>
              </a:rPr>
              <a:t>市場整體概況</a:t>
            </a:r>
          </a:p>
        </p:txBody>
      </p:sp>
      <p:sp>
        <p:nvSpPr>
          <p:cNvPr id="5" name="Rectangle 5"/>
          <p:cNvSpPr/>
          <p:nvPr/>
        </p:nvSpPr>
        <p:spPr>
          <a:xfrm>
            <a:off x="5143500" y="3810000"/>
            <a:ext cx="1905000" cy="28575"/>
          </a:xfrm>
          <a:prstGeom prst="rect">
            <a:avLst/>
          </a:prstGeom>
          <a:solidFill>
            <a:srgbClr val="C12026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1999071" y="6611302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微軟正黑體"/>
                <a:ea typeface="Microsoft JhengHei"/>
                <a:cs typeface="微軟正黑體"/>
              </a:rPr>
              <a:t>4</a:t>
            </a:r>
          </a:p>
        </p:txBody>
      </p:sp>
      <p:pic>
        <p:nvPicPr>
          <p:cNvPr id="7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6874" y="5695950"/>
            <a:ext cx="2778252" cy="105727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33425" y="614362"/>
            <a:ext cx="536424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1A1A1A"/>
                </a:solidFill>
                <a:latin typeface="微軟正黑體"/>
                <a:ea typeface="Microsoft JhengHei"/>
                <a:cs typeface="微軟正黑體"/>
              </a:rPr>
              <a:t>市場規模趨勢 — 流通卡數與簽帳金額</a:t>
            </a:r>
          </a:p>
        </p:txBody>
      </p:sp>
      <p:sp>
        <p:nvSpPr>
          <p:cNvPr id="4" name="Freeform 4"/>
          <p:cNvSpPr/>
          <p:nvPr/>
        </p:nvSpPr>
        <p:spPr>
          <a:xfrm>
            <a:off x="762000" y="1285875"/>
            <a:ext cx="10668000" cy="457200"/>
          </a:xfrm>
          <a:custGeom>
            <a:avLst/>
            <a:gdLst/>
            <a:ahLst/>
            <a:cxnLst/>
            <a:rect l="l" t="t" r="r" b="b"/>
            <a:pathLst>
              <a:path w="10668000" h="457200">
                <a:moveTo>
                  <a:pt x="57150" y="0"/>
                </a:moveTo>
                <a:lnTo>
                  <a:pt x="10610850" y="0"/>
                </a:lnTo>
                <a:cubicBezTo>
                  <a:pt x="10642413" y="0"/>
                  <a:pt x="10668000" y="25587"/>
                  <a:pt x="10668000" y="57150"/>
                </a:cubicBezTo>
                <a:lnTo>
                  <a:pt x="10668000" y="400050"/>
                </a:lnTo>
                <a:cubicBezTo>
                  <a:pt x="10668000" y="431613"/>
                  <a:pt x="10642413" y="457200"/>
                  <a:pt x="10610850" y="457200"/>
                </a:cubicBezTo>
                <a:lnTo>
                  <a:pt x="57150" y="457200"/>
                </a:lnTo>
                <a:cubicBezTo>
                  <a:pt x="25587" y="457200"/>
                  <a:pt x="0" y="431613"/>
                  <a:pt x="0" y="4000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5F5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37260" y="1442085"/>
            <a:ext cx="606643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C12026"/>
                </a:solidFill>
                <a:latin typeface="微軟正黑體"/>
                <a:ea typeface="Microsoft JhengHei"/>
                <a:cs typeface="微軟正黑體"/>
              </a:rPr>
              <a:t>◆ 市場總流通卡數穩定成長至 6,049 萬，但真正驅動力在簽帳金額 +33.9%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714500" y="2095500"/>
            <a:ext cx="9334500" cy="3343275"/>
            <a:chOff x="1714500" y="2095500"/>
            <a:chExt cx="9334500" cy="3343275"/>
          </a:xfrm>
        </p:grpSpPr>
        <p:sp>
          <p:nvSpPr>
            <p:cNvPr id="6" name="Line 6"/>
            <p:cNvSpPr/>
            <p:nvPr/>
          </p:nvSpPr>
          <p:spPr>
            <a:xfrm>
              <a:off x="1714500" y="2095500"/>
              <a:ext cx="9334500" cy="9525"/>
            </a:xfrm>
            <a:custGeom>
              <a:avLst/>
              <a:gdLst/>
              <a:ahLst/>
              <a:cxnLst/>
              <a:rect l="l" t="t" r="r" b="b"/>
              <a:pathLst>
                <a:path w="9334500" h="9525">
                  <a:moveTo>
                    <a:pt x="0" y="0"/>
                  </a:moveTo>
                  <a:lnTo>
                    <a:pt x="9334500" y="0"/>
                  </a:lnTo>
                </a:path>
              </a:pathLst>
            </a:custGeom>
            <a:noFill/>
            <a:ln w="9525">
              <a:solidFill>
                <a:srgbClr val="F0F0F0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1714500" y="2762250"/>
              <a:ext cx="9334500" cy="9525"/>
            </a:xfrm>
            <a:custGeom>
              <a:avLst/>
              <a:gdLst/>
              <a:ahLst/>
              <a:cxnLst/>
              <a:rect l="l" t="t" r="r" b="b"/>
              <a:pathLst>
                <a:path w="9334500" h="9525">
                  <a:moveTo>
                    <a:pt x="0" y="0"/>
                  </a:moveTo>
                  <a:lnTo>
                    <a:pt x="9334500" y="0"/>
                  </a:lnTo>
                </a:path>
              </a:pathLst>
            </a:custGeom>
            <a:noFill/>
            <a:ln w="9525">
              <a:solidFill>
                <a:srgbClr val="F0F0F0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714500" y="3429000"/>
              <a:ext cx="9334500" cy="9525"/>
            </a:xfrm>
            <a:custGeom>
              <a:avLst/>
              <a:gdLst/>
              <a:ahLst/>
              <a:cxnLst/>
              <a:rect l="l" t="t" r="r" b="b"/>
              <a:pathLst>
                <a:path w="9334500" h="9525">
                  <a:moveTo>
                    <a:pt x="0" y="0"/>
                  </a:moveTo>
                  <a:lnTo>
                    <a:pt x="9334500" y="0"/>
                  </a:lnTo>
                </a:path>
              </a:pathLst>
            </a:custGeom>
            <a:noFill/>
            <a:ln w="9525">
              <a:solidFill>
                <a:srgbClr val="F0F0F0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714500" y="4095750"/>
              <a:ext cx="9334500" cy="9525"/>
            </a:xfrm>
            <a:custGeom>
              <a:avLst/>
              <a:gdLst/>
              <a:ahLst/>
              <a:cxnLst/>
              <a:rect l="l" t="t" r="r" b="b"/>
              <a:pathLst>
                <a:path w="9334500" h="9525">
                  <a:moveTo>
                    <a:pt x="0" y="0"/>
                  </a:moveTo>
                  <a:lnTo>
                    <a:pt x="9334500" y="0"/>
                  </a:lnTo>
                </a:path>
              </a:pathLst>
            </a:custGeom>
            <a:noFill/>
            <a:ln w="9525">
              <a:solidFill>
                <a:srgbClr val="F0F0F0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714500" y="4762500"/>
              <a:ext cx="9334500" cy="9525"/>
            </a:xfrm>
            <a:custGeom>
              <a:avLst/>
              <a:gdLst/>
              <a:ahLst/>
              <a:cxnLst/>
              <a:rect l="l" t="t" r="r" b="b"/>
              <a:pathLst>
                <a:path w="9334500" h="9525">
                  <a:moveTo>
                    <a:pt x="0" y="0"/>
                  </a:moveTo>
                  <a:lnTo>
                    <a:pt x="9334500" y="0"/>
                  </a:lnTo>
                </a:path>
              </a:pathLst>
            </a:custGeom>
            <a:noFill/>
            <a:ln w="9525">
              <a:solidFill>
                <a:srgbClr val="F0F0F0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714500" y="5429250"/>
              <a:ext cx="9334500" cy="9525"/>
            </a:xfrm>
            <a:custGeom>
              <a:avLst/>
              <a:gdLst/>
              <a:ahLst/>
              <a:cxnLst/>
              <a:rect l="l" t="t" r="r" b="b"/>
              <a:pathLst>
                <a:path w="9334500" h="9525">
                  <a:moveTo>
                    <a:pt x="0" y="0"/>
                  </a:moveTo>
                  <a:lnTo>
                    <a:pt x="9334500" y="0"/>
                  </a:lnTo>
                </a:path>
              </a:pathLst>
            </a:custGeom>
            <a:noFill/>
            <a:ln w="9525">
              <a:solidFill>
                <a:srgbClr val="F0F0F0"/>
              </a:solidFill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1174052" y="5370195"/>
            <a:ext cx="4566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66666"/>
                </a:solidFill>
                <a:latin typeface="微軟正黑體"/>
                <a:ea typeface="Microsoft JhengHei"/>
                <a:cs typeface="微軟正黑體"/>
              </a:rPr>
              <a:t>58,500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74052" y="4703445"/>
            <a:ext cx="4566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66666"/>
                </a:solidFill>
                <a:latin typeface="微軟正黑體"/>
                <a:ea typeface="Microsoft JhengHei"/>
                <a:cs typeface="微軟正黑體"/>
              </a:rPr>
              <a:t>59,000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74052" y="4036695"/>
            <a:ext cx="4566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66666"/>
                </a:solidFill>
                <a:latin typeface="微軟正黑體"/>
                <a:ea typeface="Microsoft JhengHei"/>
                <a:cs typeface="微軟正黑體"/>
              </a:rPr>
              <a:t>59,500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4052" y="3369945"/>
            <a:ext cx="4566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66666"/>
                </a:solidFill>
                <a:latin typeface="微軟正黑體"/>
                <a:ea typeface="Microsoft JhengHei"/>
                <a:cs typeface="微軟正黑體"/>
              </a:rPr>
              <a:t>60,000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74052" y="2703195"/>
            <a:ext cx="4566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66666"/>
                </a:solidFill>
                <a:latin typeface="微軟正黑體"/>
                <a:ea typeface="Microsoft JhengHei"/>
                <a:cs typeface="微軟正黑體"/>
              </a:rPr>
              <a:t>60,500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06913" y="2036445"/>
            <a:ext cx="42376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66666"/>
                </a:solidFill>
                <a:latin typeface="微軟正黑體"/>
                <a:ea typeface="Microsoft JhengHei"/>
                <a:cs typeface="微軟正黑體"/>
              </a:rPr>
              <a:t>61,000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132820" y="5370195"/>
            <a:ext cx="23974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12026"/>
                </a:solidFill>
                <a:latin typeface="微軟正黑體"/>
                <a:ea typeface="Microsoft JhengHei"/>
                <a:cs typeface="微軟正黑體"/>
              </a:rPr>
              <a:t>330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132820" y="4036695"/>
            <a:ext cx="23974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12026"/>
                </a:solidFill>
                <a:latin typeface="微軟正黑體"/>
                <a:ea typeface="Microsoft JhengHei"/>
                <a:cs typeface="微軟正黑體"/>
              </a:rPr>
              <a:t>390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132820" y="2703195"/>
            <a:ext cx="23974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12026"/>
                </a:solidFill>
                <a:latin typeface="微軟正黑體"/>
                <a:ea typeface="Microsoft JhengHei"/>
                <a:cs typeface="微軟正黑體"/>
              </a:rPr>
              <a:t>450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132820" y="2036445"/>
            <a:ext cx="23974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12026"/>
                </a:solidFill>
                <a:latin typeface="微軟正黑體"/>
                <a:ea typeface="Microsoft JhengHei"/>
                <a:cs typeface="微軟正黑體"/>
              </a:rPr>
              <a:t>480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617631" y="5570220"/>
            <a:ext cx="1937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1月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401300" y="5570220"/>
            <a:ext cx="2266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2月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201400" y="5570220"/>
            <a:ext cx="2266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3月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001500" y="5570220"/>
            <a:ext cx="2266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4月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801600" y="5570220"/>
            <a:ext cx="2266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5月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601700" y="5570220"/>
            <a:ext cx="2266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6月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01800" y="5570220"/>
            <a:ext cx="2266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7月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201900" y="5570220"/>
            <a:ext cx="2266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8月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002000" y="5570220"/>
            <a:ext cx="2266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9月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782383" y="5570220"/>
            <a:ext cx="26603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10月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598914" y="5570220"/>
            <a:ext cx="2331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11月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382583" y="5570220"/>
            <a:ext cx="26603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12月</a:t>
            </a:r>
          </a:p>
        </p:txBody>
      </p:sp>
      <p:sp>
        <p:nvSpPr>
          <p:cNvPr id="35" name="Polyline 35"/>
          <p:cNvSpPr/>
          <p:nvPr/>
        </p:nvSpPr>
        <p:spPr>
          <a:xfrm>
            <a:off x="1714500" y="4905375"/>
            <a:ext cx="8801100" cy="333375"/>
          </a:xfrm>
          <a:custGeom>
            <a:avLst/>
            <a:gdLst/>
            <a:ahLst/>
            <a:cxnLst/>
            <a:rect l="l" t="t" r="r" b="b"/>
            <a:pathLst>
              <a:path w="8801100" h="333375">
                <a:moveTo>
                  <a:pt x="0" y="238125"/>
                </a:moveTo>
                <a:lnTo>
                  <a:pt x="800100" y="285750"/>
                </a:lnTo>
                <a:lnTo>
                  <a:pt x="1600200" y="142875"/>
                </a:lnTo>
                <a:lnTo>
                  <a:pt x="2400300" y="285750"/>
                </a:lnTo>
                <a:lnTo>
                  <a:pt x="3200400" y="285750"/>
                </a:lnTo>
                <a:lnTo>
                  <a:pt x="4000500" y="333375"/>
                </a:lnTo>
                <a:lnTo>
                  <a:pt x="4800600" y="142875"/>
                </a:lnTo>
                <a:lnTo>
                  <a:pt x="5600700" y="190500"/>
                </a:lnTo>
                <a:lnTo>
                  <a:pt x="6400800" y="95250"/>
                </a:lnTo>
                <a:lnTo>
                  <a:pt x="7200900" y="95250"/>
                </a:lnTo>
                <a:lnTo>
                  <a:pt x="8001000" y="95250"/>
                </a:lnTo>
                <a:lnTo>
                  <a:pt x="8801100" y="0"/>
                </a:lnTo>
              </a:path>
            </a:pathLst>
          </a:custGeom>
          <a:noFill/>
          <a:ln w="23812">
            <a:solidFill>
              <a:srgbClr val="999999"/>
            </a:solidFill>
          </a:ln>
        </p:spPr>
      </p:sp>
      <p:sp>
        <p:nvSpPr>
          <p:cNvPr id="36" name="Polyline 36"/>
          <p:cNvSpPr/>
          <p:nvPr/>
        </p:nvSpPr>
        <p:spPr>
          <a:xfrm>
            <a:off x="1714500" y="2381250"/>
            <a:ext cx="8801100" cy="857250"/>
          </a:xfrm>
          <a:custGeom>
            <a:avLst/>
            <a:gdLst/>
            <a:ahLst/>
            <a:cxnLst/>
            <a:rect l="l" t="t" r="r" b="b"/>
            <a:pathLst>
              <a:path w="8801100" h="857250">
                <a:moveTo>
                  <a:pt x="0" y="666750"/>
                </a:moveTo>
                <a:lnTo>
                  <a:pt x="800100" y="857250"/>
                </a:lnTo>
                <a:lnTo>
                  <a:pt x="1600200" y="381000"/>
                </a:lnTo>
                <a:lnTo>
                  <a:pt x="2400300" y="571500"/>
                </a:lnTo>
                <a:lnTo>
                  <a:pt x="3200400" y="571500"/>
                </a:lnTo>
                <a:lnTo>
                  <a:pt x="4000500" y="571500"/>
                </a:lnTo>
                <a:lnTo>
                  <a:pt x="4800600" y="571500"/>
                </a:lnTo>
                <a:lnTo>
                  <a:pt x="5600700" y="571500"/>
                </a:lnTo>
                <a:lnTo>
                  <a:pt x="6400800" y="476250"/>
                </a:lnTo>
                <a:lnTo>
                  <a:pt x="7200900" y="476250"/>
                </a:lnTo>
                <a:lnTo>
                  <a:pt x="8001000" y="285750"/>
                </a:lnTo>
                <a:lnTo>
                  <a:pt x="8801100" y="0"/>
                </a:lnTo>
              </a:path>
            </a:pathLst>
          </a:custGeom>
          <a:noFill/>
          <a:ln w="28575">
            <a:solidFill>
              <a:srgbClr val="C12026"/>
            </a:solidFill>
          </a:ln>
        </p:spPr>
      </p:sp>
      <p:sp>
        <p:nvSpPr>
          <p:cNvPr id="37" name="Ellipse 37"/>
          <p:cNvSpPr/>
          <p:nvPr/>
        </p:nvSpPr>
        <p:spPr>
          <a:xfrm>
            <a:off x="10467975" y="4857750"/>
            <a:ext cx="95250" cy="9525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9669067" y="4657249"/>
            <a:ext cx="63031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b="1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6,049 萬</a:t>
            </a:r>
          </a:p>
        </p:txBody>
      </p:sp>
      <p:sp>
        <p:nvSpPr>
          <p:cNvPr id="39" name="Ellipse 39"/>
          <p:cNvSpPr/>
          <p:nvPr/>
        </p:nvSpPr>
        <p:spPr>
          <a:xfrm>
            <a:off x="10467975" y="2333625"/>
            <a:ext cx="95250" cy="95250"/>
          </a:xfrm>
          <a:prstGeom prst="ellipse">
            <a:avLst/>
          </a:prstGeom>
          <a:solidFill>
            <a:srgbClr val="C12026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9669067" y="2228374"/>
            <a:ext cx="63031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b="1" dirty="0">
                <a:solidFill>
                  <a:srgbClr val="C12026"/>
                </a:solidFill>
                <a:latin typeface="Segoe UI"/>
                <a:ea typeface="Microsoft YaHei"/>
                <a:cs typeface="Segoe UI"/>
              </a:rPr>
              <a:t>4,537 億</a:t>
            </a:r>
          </a:p>
        </p:txBody>
      </p:sp>
      <p:sp>
        <p:nvSpPr>
          <p:cNvPr id="41" name="Rectangle 41"/>
          <p:cNvSpPr/>
          <p:nvPr/>
        </p:nvSpPr>
        <p:spPr>
          <a:xfrm>
            <a:off x="762000" y="5857875"/>
            <a:ext cx="152400" cy="28575"/>
          </a:xfrm>
          <a:prstGeom prst="rect">
            <a:avLst/>
          </a:prstGeom>
          <a:solidFill>
            <a:srgbClr val="999999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959168" y="5800249"/>
            <a:ext cx="14487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微軟正黑體"/>
                <a:ea typeface="Microsoft JhengHei"/>
                <a:cs typeface="微軟正黑體"/>
              </a:rPr>
              <a:t>市場流通卡數（萬張）</a:t>
            </a:r>
          </a:p>
        </p:txBody>
      </p:sp>
      <p:sp>
        <p:nvSpPr>
          <p:cNvPr id="43" name="Rectangle 43"/>
          <p:cNvSpPr/>
          <p:nvPr/>
        </p:nvSpPr>
        <p:spPr>
          <a:xfrm>
            <a:off x="2762250" y="5857875"/>
            <a:ext cx="152400" cy="28575"/>
          </a:xfrm>
          <a:prstGeom prst="rect">
            <a:avLst/>
          </a:prstGeom>
          <a:solidFill>
            <a:srgbClr val="C12026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2959418" y="5800249"/>
            <a:ext cx="14487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微軟正黑體"/>
                <a:ea typeface="Microsoft JhengHei"/>
                <a:cs typeface="微軟正黑體"/>
              </a:rPr>
              <a:t>市場簽帳金額（千億）</a:t>
            </a:r>
          </a:p>
        </p:txBody>
      </p:sp>
      <p:sp>
        <p:nvSpPr>
          <p:cNvPr id="45" name="Freeform 45"/>
          <p:cNvSpPr/>
          <p:nvPr/>
        </p:nvSpPr>
        <p:spPr>
          <a:xfrm>
            <a:off x="1524000" y="2857500"/>
            <a:ext cx="476250" cy="190500"/>
          </a:xfrm>
          <a:custGeom>
            <a:avLst/>
            <a:gdLst/>
            <a:ahLst/>
            <a:cxnLst/>
            <a:rect l="l" t="t" r="r" b="b"/>
            <a:pathLst>
              <a:path w="476250" h="190500">
                <a:moveTo>
                  <a:pt x="38100" y="0"/>
                </a:moveTo>
                <a:lnTo>
                  <a:pt x="438150" y="0"/>
                </a:lnTo>
                <a:cubicBezTo>
                  <a:pt x="459192" y="0"/>
                  <a:pt x="476250" y="17058"/>
                  <a:pt x="476250" y="38100"/>
                </a:cubicBezTo>
                <a:lnTo>
                  <a:pt x="476250" y="152400"/>
                </a:lnTo>
                <a:cubicBezTo>
                  <a:pt x="476250" y="173442"/>
                  <a:pt x="459192" y="190500"/>
                  <a:pt x="438150" y="190500"/>
                </a:cubicBezTo>
                <a:lnTo>
                  <a:pt x="38100" y="190500"/>
                </a:lnTo>
                <a:cubicBezTo>
                  <a:pt x="17058" y="190500"/>
                  <a:pt x="0" y="173442"/>
                  <a:pt x="0" y="1524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5F5"/>
          </a:solidFill>
          <a:ln w="4762">
            <a:solidFill>
              <a:srgbClr val="CCCCCC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1552837" y="2901791"/>
            <a:ext cx="4185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1月基期</a:t>
            </a:r>
          </a:p>
        </p:txBody>
      </p:sp>
      <p:pic>
        <p:nvPicPr>
          <p:cNvPr id="47" name="Image 4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228" y="6229350"/>
            <a:ext cx="1576864" cy="600075"/>
          </a:xfrm>
          <a:prstGeom prst="rect">
            <a:avLst/>
          </a:prstGeom>
        </p:spPr>
      </p:pic>
      <p:sp>
        <p:nvSpPr>
          <p:cNvPr id="48" name="Rectangle 48"/>
          <p:cNvSpPr/>
          <p:nvPr/>
        </p:nvSpPr>
        <p:spPr>
          <a:xfrm>
            <a:off x="1952625" y="6457950"/>
            <a:ext cx="8334375" cy="14288"/>
          </a:xfrm>
          <a:prstGeom prst="rect">
            <a:avLst/>
          </a:prstGeom>
          <a:solidFill>
            <a:srgbClr val="C12026"/>
          </a:solidFill>
          <a:ln>
            <a:noFill/>
          </a:ln>
        </p:spPr>
      </p:sp>
      <p:sp>
        <p:nvSpPr>
          <p:cNvPr id="49" name="Rectangle 49"/>
          <p:cNvSpPr/>
          <p:nvPr/>
        </p:nvSpPr>
        <p:spPr>
          <a:xfrm>
            <a:off x="10287000" y="6457950"/>
            <a:ext cx="1457325" cy="14288"/>
          </a:xfrm>
          <a:prstGeom prst="rect">
            <a:avLst/>
          </a:prstGeom>
          <a:solidFill>
            <a:srgbClr val="CCCCCC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11999071" y="6611302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微軟正黑體"/>
                <a:ea typeface="Microsoft JhengHei"/>
                <a:cs typeface="微軟正黑體"/>
              </a:rPr>
              <a:t>5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0567606" y="6611302"/>
            <a:ext cx="11614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智  慧  好  夥  伴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6969EFF7-A20C-4C5F-934D-2C29AA3E901B}"/>
              </a:ext>
            </a:extLst>
          </p:cNvPr>
          <p:cNvSpPr/>
          <p:nvPr/>
        </p:nvSpPr>
        <p:spPr>
          <a:xfrm>
            <a:off x="1174052" y="1953928"/>
            <a:ext cx="502348" cy="3616292"/>
          </a:xfrm>
          <a:prstGeom prst="rect">
            <a:avLst/>
          </a:prstGeom>
          <a:solidFill>
            <a:srgbClr val="FFFF00">
              <a:alpha val="20000"/>
            </a:srgbClr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38DADA0E-0A99-4CF4-883C-D2A782AD5DD3}"/>
              </a:ext>
            </a:extLst>
          </p:cNvPr>
          <p:cNvSpPr txBox="1"/>
          <p:nvPr/>
        </p:nvSpPr>
        <p:spPr>
          <a:xfrm>
            <a:off x="1709261" y="2058170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座標軸數值有誤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8120DF83-DC5B-4A8C-9B09-A6FD327A0258}"/>
              </a:ext>
            </a:extLst>
          </p:cNvPr>
          <p:cNvSpPr/>
          <p:nvPr/>
        </p:nvSpPr>
        <p:spPr>
          <a:xfrm>
            <a:off x="10994517" y="1963186"/>
            <a:ext cx="502348" cy="3616292"/>
          </a:xfrm>
          <a:prstGeom prst="rect">
            <a:avLst/>
          </a:prstGeom>
          <a:solidFill>
            <a:srgbClr val="FFFF00">
              <a:alpha val="20000"/>
            </a:srgbClr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2E4D0100-B332-4D11-BE14-4AB45DBB4CA7}"/>
              </a:ext>
            </a:extLst>
          </p:cNvPr>
          <p:cNvSpPr txBox="1"/>
          <p:nvPr/>
        </p:nvSpPr>
        <p:spPr>
          <a:xfrm>
            <a:off x="9155924" y="1809036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座標軸數值有誤</a:t>
            </a: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6E606B21-0962-486A-804E-F6C9D5156F74}"/>
              </a:ext>
            </a:extLst>
          </p:cNvPr>
          <p:cNvSpPr/>
          <p:nvPr/>
        </p:nvSpPr>
        <p:spPr>
          <a:xfrm>
            <a:off x="3855655" y="2447925"/>
            <a:ext cx="3879959" cy="1152049"/>
          </a:xfrm>
          <a:prstGeom prst="ellipse">
            <a:avLst/>
          </a:prstGeom>
          <a:solidFill>
            <a:srgbClr val="FFFF00">
              <a:alpha val="20000"/>
            </a:srgbClr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B42E9C70-6D70-4C62-8B86-5D4A0DAA1819}"/>
              </a:ext>
            </a:extLst>
          </p:cNvPr>
          <p:cNvSpPr txBox="1"/>
          <p:nvPr/>
        </p:nvSpPr>
        <p:spPr>
          <a:xfrm>
            <a:off x="7735614" y="317099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數值有誤</a:t>
            </a: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EF4C310E-9DF4-4B78-94E6-CE62411F9905}"/>
              </a:ext>
            </a:extLst>
          </p:cNvPr>
          <p:cNvSpPr/>
          <p:nvPr/>
        </p:nvSpPr>
        <p:spPr>
          <a:xfrm>
            <a:off x="3799580" y="4310300"/>
            <a:ext cx="3879959" cy="1152049"/>
          </a:xfrm>
          <a:prstGeom prst="ellipse">
            <a:avLst/>
          </a:prstGeom>
          <a:solidFill>
            <a:srgbClr val="FFFF00">
              <a:alpha val="20000"/>
            </a:srgbClr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EC487043-873A-445F-9C20-508F9D4B7CAE}"/>
              </a:ext>
            </a:extLst>
          </p:cNvPr>
          <p:cNvSpPr txBox="1"/>
          <p:nvPr/>
        </p:nvSpPr>
        <p:spPr>
          <a:xfrm>
            <a:off x="7631538" y="452788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數值有誤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55B66663-BE9B-44D5-A656-9441D95D3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(P.5</a:t>
            </a:r>
            <a:r>
              <a:rPr lang="zh-TW" altLang="en-US" dirty="0"/>
              <a:t> 預期修正</a:t>
            </a:r>
            <a:r>
              <a:rPr lang="en-US" altLang="zh-TW" dirty="0"/>
              <a:t>)</a:t>
            </a:r>
            <a:r>
              <a:rPr lang="zh-TW" altLang="en-US" dirty="0"/>
              <a:t> 市場規模趨勢 </a:t>
            </a:r>
            <a:r>
              <a:rPr lang="en-US" altLang="zh-TW" dirty="0"/>
              <a:t>— </a:t>
            </a:r>
            <a:r>
              <a:rPr lang="zh-TW" altLang="en-US" dirty="0"/>
              <a:t>流通卡數與簽帳金額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BD31BC7-68DD-4189-BDED-499D67BF63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fld id="{00000000-1234-1234-1234-123412341234}" type="slidenum">
              <a:rPr kumimoji="0" lang="en-US" altLang="zh-TW" sz="1100" b="0" i="0" u="none" strike="noStrike" kern="1200" cap="none" spc="0" normalizeH="0" baseline="0" noProof="0" smtClean="0">
                <a:ln>
                  <a:noFill/>
                </a:ln>
                <a:solidFill>
                  <a:srgbClr val="656565"/>
                </a:solidFill>
                <a:effectLst/>
                <a:uLnTx/>
                <a:uFillTx/>
                <a:latin typeface="Noto Sans"/>
                <a:ea typeface="Noto Sans"/>
                <a:cs typeface="Noto Sans"/>
                <a:sym typeface="Noto San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  <a:tabLst/>
                <a:defRPr/>
              </a:pPr>
              <a:t>6</a:t>
            </a:fld>
            <a:endParaRPr kumimoji="0" lang="zh-TW" altLang="en-US" sz="1100" b="0" i="0" u="none" strike="noStrike" kern="1200" cap="none" spc="0" normalizeH="0" baseline="0" noProof="0">
              <a:ln>
                <a:noFill/>
              </a:ln>
              <a:solidFill>
                <a:srgbClr val="656565"/>
              </a:solidFill>
              <a:effectLst/>
              <a:uLnTx/>
              <a:uFillTx/>
              <a:latin typeface="Noto Sans"/>
              <a:cs typeface="Noto Sans"/>
              <a:sym typeface="Noto Sans"/>
            </a:endParaRPr>
          </a:p>
        </p:txBody>
      </p:sp>
      <p:graphicFrame>
        <p:nvGraphicFramePr>
          <p:cNvPr id="5" name="圖表 4">
            <a:extLst>
              <a:ext uri="{FF2B5EF4-FFF2-40B4-BE49-F238E27FC236}">
                <a16:creationId xmlns:a16="http://schemas.microsoft.com/office/drawing/2014/main" id="{826853C2-0255-458A-8A4B-5A255F9E0B0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64338551"/>
              </p:ext>
            </p:extLst>
          </p:nvPr>
        </p:nvGraphicFramePr>
        <p:xfrm>
          <a:off x="741635" y="1913868"/>
          <a:ext cx="10556985" cy="42872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Freeform 4">
            <a:extLst>
              <a:ext uri="{FF2B5EF4-FFF2-40B4-BE49-F238E27FC236}">
                <a16:creationId xmlns:a16="http://schemas.microsoft.com/office/drawing/2014/main" id="{2541D4A3-0725-4D59-95E6-48DE3AB4C808}"/>
              </a:ext>
            </a:extLst>
          </p:cNvPr>
          <p:cNvSpPr/>
          <p:nvPr/>
        </p:nvSpPr>
        <p:spPr>
          <a:xfrm>
            <a:off x="762000" y="1285875"/>
            <a:ext cx="10668000" cy="457200"/>
          </a:xfrm>
          <a:custGeom>
            <a:avLst/>
            <a:gdLst/>
            <a:ahLst/>
            <a:cxnLst/>
            <a:rect l="l" t="t" r="r" b="b"/>
            <a:pathLst>
              <a:path w="10668000" h="457200">
                <a:moveTo>
                  <a:pt x="57150" y="0"/>
                </a:moveTo>
                <a:lnTo>
                  <a:pt x="10610850" y="0"/>
                </a:lnTo>
                <a:cubicBezTo>
                  <a:pt x="10642413" y="0"/>
                  <a:pt x="10668000" y="25587"/>
                  <a:pt x="10668000" y="57150"/>
                </a:cubicBezTo>
                <a:lnTo>
                  <a:pt x="10668000" y="400050"/>
                </a:lnTo>
                <a:cubicBezTo>
                  <a:pt x="10668000" y="431613"/>
                  <a:pt x="10642413" y="457200"/>
                  <a:pt x="10610850" y="457200"/>
                </a:cubicBezTo>
                <a:lnTo>
                  <a:pt x="57150" y="457200"/>
                </a:lnTo>
                <a:cubicBezTo>
                  <a:pt x="25587" y="457200"/>
                  <a:pt x="0" y="431613"/>
                  <a:pt x="0" y="4000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5F5"/>
          </a:solidFill>
          <a:ln>
            <a:noFill/>
          </a:ln>
        </p:spPr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9023400E-F501-4BA0-9455-75667E235D19}"/>
              </a:ext>
            </a:extLst>
          </p:cNvPr>
          <p:cNvSpPr txBox="1"/>
          <p:nvPr/>
        </p:nvSpPr>
        <p:spPr>
          <a:xfrm>
            <a:off x="937260" y="1442085"/>
            <a:ext cx="606643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C12026"/>
                </a:solidFill>
                <a:latin typeface="微軟正黑體"/>
                <a:ea typeface="Microsoft JhengHei"/>
                <a:cs typeface="微軟正黑體"/>
              </a:rPr>
              <a:t>◆ 市場總流通卡數穩定成長至 6,049 萬，但真正驅動力在簽帳金額 +33.9%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85A04C8-3631-4D17-B75D-1ACD90741681}"/>
              </a:ext>
            </a:extLst>
          </p:cNvPr>
          <p:cNvSpPr txBox="1"/>
          <p:nvPr/>
        </p:nvSpPr>
        <p:spPr>
          <a:xfrm>
            <a:off x="1191511" y="6165673"/>
            <a:ext cx="5557932" cy="369332"/>
          </a:xfrm>
          <a:prstGeom prst="rect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可點選圖表右鍵「編輯資料」查看原始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EXCEL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資料表</a:t>
            </a:r>
          </a:p>
        </p:txBody>
      </p:sp>
    </p:spTree>
    <p:extLst>
      <p:ext uri="{BB962C8B-B14F-4D97-AF65-F5344CB8AC3E}">
        <p14:creationId xmlns:p14="http://schemas.microsoft.com/office/powerpoint/2010/main" val="2812000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33425" y="614362"/>
            <a:ext cx="6711553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1A1A1A"/>
                </a:solidFill>
                <a:latin typeface="微軟正黑體"/>
                <a:ea typeface="Microsoft JhengHei"/>
                <a:cs typeface="微軟正黑體"/>
              </a:rPr>
              <a:t>市占率排名 — Top 10 銀行流通卡數與簽帳金額</a:t>
            </a:r>
          </a:p>
        </p:txBody>
      </p:sp>
      <p:sp>
        <p:nvSpPr>
          <p:cNvPr id="4" name="Freeform 4"/>
          <p:cNvSpPr/>
          <p:nvPr/>
        </p:nvSpPr>
        <p:spPr>
          <a:xfrm>
            <a:off x="762000" y="1285875"/>
            <a:ext cx="10668000" cy="457200"/>
          </a:xfrm>
          <a:custGeom>
            <a:avLst/>
            <a:gdLst/>
            <a:ahLst/>
            <a:cxnLst/>
            <a:rect l="l" t="t" r="r" b="b"/>
            <a:pathLst>
              <a:path w="10668000" h="457200">
                <a:moveTo>
                  <a:pt x="57150" y="0"/>
                </a:moveTo>
                <a:lnTo>
                  <a:pt x="10610850" y="0"/>
                </a:lnTo>
                <a:cubicBezTo>
                  <a:pt x="10642413" y="0"/>
                  <a:pt x="10668000" y="25587"/>
                  <a:pt x="10668000" y="57150"/>
                </a:cubicBezTo>
                <a:lnTo>
                  <a:pt x="10668000" y="400050"/>
                </a:lnTo>
                <a:cubicBezTo>
                  <a:pt x="10668000" y="431613"/>
                  <a:pt x="10642413" y="457200"/>
                  <a:pt x="10610850" y="457200"/>
                </a:cubicBezTo>
                <a:lnTo>
                  <a:pt x="57150" y="457200"/>
                </a:lnTo>
                <a:cubicBezTo>
                  <a:pt x="25587" y="457200"/>
                  <a:pt x="0" y="431613"/>
                  <a:pt x="0" y="4000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5F5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37260" y="1442085"/>
            <a:ext cx="740060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C12026"/>
                </a:solidFill>
                <a:latin typeface="微軟正黑體"/>
                <a:ea typeface="Microsoft JhengHei"/>
                <a:cs typeface="微軟正黑體"/>
              </a:rPr>
              <a:t>◆ 中信以 946 萬卡穩居第一；台新簽帳市占 10.7% 高於流通卡市占 11.0% 顯示單卡消費力強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4855" y="1854518"/>
            <a:ext cx="212525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微軟正黑體"/>
                <a:ea typeface="Microsoft JhengHei"/>
                <a:cs typeface="微軟正黑體"/>
              </a:rPr>
              <a:t>流通卡數市占率 Top 10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37210" y="2134552"/>
            <a:ext cx="3333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4D4D4D"/>
                </a:solidFill>
                <a:latin typeface="微軟正黑體"/>
                <a:ea typeface="Microsoft JhengHei"/>
                <a:cs typeface="微軟正黑體"/>
              </a:rPr>
              <a:t>中信</a:t>
            </a:r>
          </a:p>
        </p:txBody>
      </p:sp>
      <p:sp>
        <p:nvSpPr>
          <p:cNvPr id="8" name="Freeform 8"/>
          <p:cNvSpPr/>
          <p:nvPr/>
        </p:nvSpPr>
        <p:spPr>
          <a:xfrm>
            <a:off x="1143000" y="2114550"/>
            <a:ext cx="8382000" cy="190500"/>
          </a:xfrm>
          <a:custGeom>
            <a:avLst/>
            <a:gdLst/>
            <a:ahLst/>
            <a:cxnLst/>
            <a:rect l="l" t="t" r="r" b="b"/>
            <a:pathLst>
              <a:path w="8382000" h="190500">
                <a:moveTo>
                  <a:pt x="28575" y="0"/>
                </a:moveTo>
                <a:lnTo>
                  <a:pt x="8353425" y="0"/>
                </a:lnTo>
                <a:cubicBezTo>
                  <a:pt x="8369207" y="0"/>
                  <a:pt x="8382000" y="12793"/>
                  <a:pt x="8382000" y="28575"/>
                </a:cubicBezTo>
                <a:lnTo>
                  <a:pt x="8382000" y="161925"/>
                </a:lnTo>
                <a:cubicBezTo>
                  <a:pt x="8382000" y="177707"/>
                  <a:pt x="8369207" y="190500"/>
                  <a:pt x="8353425" y="190500"/>
                </a:cubicBezTo>
                <a:lnTo>
                  <a:pt x="28575" y="190500"/>
                </a:lnTo>
                <a:cubicBezTo>
                  <a:pt x="12793" y="190500"/>
                  <a:pt x="0" y="177707"/>
                  <a:pt x="0" y="161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C12026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607868" y="2142649"/>
            <a:ext cx="3985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15.6%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37210" y="2420302"/>
            <a:ext cx="3333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4D4D4D"/>
                </a:solidFill>
                <a:latin typeface="微軟正黑體"/>
                <a:ea typeface="Microsoft JhengHei"/>
                <a:cs typeface="微軟正黑體"/>
              </a:rPr>
              <a:t>玉山</a:t>
            </a:r>
          </a:p>
        </p:txBody>
      </p:sp>
      <p:sp>
        <p:nvSpPr>
          <p:cNvPr id="11" name="Freeform 11"/>
          <p:cNvSpPr/>
          <p:nvPr/>
        </p:nvSpPr>
        <p:spPr>
          <a:xfrm>
            <a:off x="1143000" y="2400300"/>
            <a:ext cx="7286625" cy="190500"/>
          </a:xfrm>
          <a:custGeom>
            <a:avLst/>
            <a:gdLst/>
            <a:ahLst/>
            <a:cxnLst/>
            <a:rect l="l" t="t" r="r" b="b"/>
            <a:pathLst>
              <a:path w="7286625" h="190500">
                <a:moveTo>
                  <a:pt x="28575" y="0"/>
                </a:moveTo>
                <a:lnTo>
                  <a:pt x="7258050" y="0"/>
                </a:lnTo>
                <a:cubicBezTo>
                  <a:pt x="7273832" y="0"/>
                  <a:pt x="7286625" y="12793"/>
                  <a:pt x="7286625" y="28575"/>
                </a:cubicBezTo>
                <a:lnTo>
                  <a:pt x="7286625" y="161925"/>
                </a:lnTo>
                <a:cubicBezTo>
                  <a:pt x="7286625" y="177707"/>
                  <a:pt x="7273832" y="190500"/>
                  <a:pt x="7258050" y="190500"/>
                </a:cubicBezTo>
                <a:lnTo>
                  <a:pt x="28575" y="190500"/>
                </a:lnTo>
                <a:cubicBezTo>
                  <a:pt x="12793" y="190500"/>
                  <a:pt x="0" y="177707"/>
                  <a:pt x="0" y="161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D32F2F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512492" y="2428399"/>
            <a:ext cx="3985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14.5%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37210" y="2706052"/>
            <a:ext cx="3333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4D4D4D"/>
                </a:solidFill>
                <a:latin typeface="微軟正黑體"/>
                <a:ea typeface="Microsoft JhengHei"/>
                <a:cs typeface="微軟正黑體"/>
              </a:rPr>
              <a:t>台新</a:t>
            </a:r>
          </a:p>
        </p:txBody>
      </p:sp>
      <p:sp>
        <p:nvSpPr>
          <p:cNvPr id="14" name="Freeform 14"/>
          <p:cNvSpPr/>
          <p:nvPr/>
        </p:nvSpPr>
        <p:spPr>
          <a:xfrm>
            <a:off x="1143000" y="2686050"/>
            <a:ext cx="5448300" cy="190500"/>
          </a:xfrm>
          <a:custGeom>
            <a:avLst/>
            <a:gdLst/>
            <a:ahLst/>
            <a:cxnLst/>
            <a:rect l="l" t="t" r="r" b="b"/>
            <a:pathLst>
              <a:path w="5448300" h="190500">
                <a:moveTo>
                  <a:pt x="28575" y="0"/>
                </a:moveTo>
                <a:lnTo>
                  <a:pt x="5419725" y="0"/>
                </a:lnTo>
                <a:cubicBezTo>
                  <a:pt x="5435507" y="0"/>
                  <a:pt x="5448300" y="12793"/>
                  <a:pt x="5448300" y="28575"/>
                </a:cubicBezTo>
                <a:lnTo>
                  <a:pt x="5448300" y="161925"/>
                </a:lnTo>
                <a:cubicBezTo>
                  <a:pt x="5448300" y="177707"/>
                  <a:pt x="5435507" y="190500"/>
                  <a:pt x="5419725" y="190500"/>
                </a:cubicBezTo>
                <a:lnTo>
                  <a:pt x="28575" y="190500"/>
                </a:lnTo>
                <a:cubicBezTo>
                  <a:pt x="12793" y="190500"/>
                  <a:pt x="0" y="177707"/>
                  <a:pt x="0" y="161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E57373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674168" y="2714149"/>
            <a:ext cx="36118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C12026"/>
                </a:solidFill>
                <a:latin typeface="Segoe UI"/>
                <a:ea typeface="Microsoft YaHei"/>
                <a:cs typeface="Segoe UI"/>
              </a:rPr>
              <a:t>11.0%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30505" y="29918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4D4D4D"/>
                </a:solidFill>
                <a:latin typeface="微軟正黑體"/>
                <a:ea typeface="Microsoft JhengHei"/>
                <a:cs typeface="微軟正黑體"/>
              </a:rPr>
              <a:t>台北富邦</a:t>
            </a:r>
          </a:p>
        </p:txBody>
      </p:sp>
      <p:sp>
        <p:nvSpPr>
          <p:cNvPr id="17" name="Freeform 17"/>
          <p:cNvSpPr/>
          <p:nvPr/>
        </p:nvSpPr>
        <p:spPr>
          <a:xfrm>
            <a:off x="1143000" y="2971800"/>
            <a:ext cx="5238750" cy="190500"/>
          </a:xfrm>
          <a:custGeom>
            <a:avLst/>
            <a:gdLst/>
            <a:ahLst/>
            <a:cxnLst/>
            <a:rect l="l" t="t" r="r" b="b"/>
            <a:pathLst>
              <a:path w="5238750" h="190500">
                <a:moveTo>
                  <a:pt x="28575" y="0"/>
                </a:moveTo>
                <a:lnTo>
                  <a:pt x="5210175" y="0"/>
                </a:lnTo>
                <a:cubicBezTo>
                  <a:pt x="5225957" y="0"/>
                  <a:pt x="5238750" y="12793"/>
                  <a:pt x="5238750" y="28575"/>
                </a:cubicBezTo>
                <a:lnTo>
                  <a:pt x="5238750" y="161925"/>
                </a:lnTo>
                <a:cubicBezTo>
                  <a:pt x="5238750" y="177707"/>
                  <a:pt x="5225957" y="190500"/>
                  <a:pt x="5210175" y="190500"/>
                </a:cubicBezTo>
                <a:lnTo>
                  <a:pt x="28575" y="190500"/>
                </a:lnTo>
                <a:cubicBezTo>
                  <a:pt x="12793" y="190500"/>
                  <a:pt x="0" y="177707"/>
                  <a:pt x="0" y="161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EF9A9A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6464618" y="2999899"/>
            <a:ext cx="3985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10.6%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37210" y="3277552"/>
            <a:ext cx="3333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4D4D4D"/>
                </a:solidFill>
                <a:latin typeface="微軟正黑體"/>
                <a:ea typeface="Microsoft JhengHei"/>
                <a:cs typeface="微軟正黑體"/>
              </a:rPr>
              <a:t>國泰</a:t>
            </a:r>
          </a:p>
        </p:txBody>
      </p:sp>
      <p:sp>
        <p:nvSpPr>
          <p:cNvPr id="20" name="Freeform 20"/>
          <p:cNvSpPr/>
          <p:nvPr/>
        </p:nvSpPr>
        <p:spPr>
          <a:xfrm>
            <a:off x="1143000" y="3257550"/>
            <a:ext cx="5162550" cy="190500"/>
          </a:xfrm>
          <a:custGeom>
            <a:avLst/>
            <a:gdLst/>
            <a:ahLst/>
            <a:cxnLst/>
            <a:rect l="l" t="t" r="r" b="b"/>
            <a:pathLst>
              <a:path w="5162550" h="190500">
                <a:moveTo>
                  <a:pt x="28575" y="0"/>
                </a:moveTo>
                <a:lnTo>
                  <a:pt x="5133975" y="0"/>
                </a:lnTo>
                <a:cubicBezTo>
                  <a:pt x="5149757" y="0"/>
                  <a:pt x="5162550" y="12793"/>
                  <a:pt x="5162550" y="28575"/>
                </a:cubicBezTo>
                <a:lnTo>
                  <a:pt x="5162550" y="161925"/>
                </a:lnTo>
                <a:cubicBezTo>
                  <a:pt x="5162550" y="177707"/>
                  <a:pt x="5149757" y="190500"/>
                  <a:pt x="5133975" y="190500"/>
                </a:cubicBezTo>
                <a:lnTo>
                  <a:pt x="28575" y="190500"/>
                </a:lnTo>
                <a:cubicBezTo>
                  <a:pt x="12793" y="190500"/>
                  <a:pt x="0" y="177707"/>
                  <a:pt x="0" y="161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CDD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388418" y="3285649"/>
            <a:ext cx="3985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10.5%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7210" y="3563302"/>
            <a:ext cx="3333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4D4D4D"/>
                </a:solidFill>
                <a:latin typeface="微軟正黑體"/>
                <a:ea typeface="Microsoft JhengHei"/>
                <a:cs typeface="微軟正黑體"/>
              </a:rPr>
              <a:t>星展</a:t>
            </a:r>
          </a:p>
        </p:txBody>
      </p:sp>
      <p:sp>
        <p:nvSpPr>
          <p:cNvPr id="23" name="Freeform 23"/>
          <p:cNvSpPr/>
          <p:nvPr/>
        </p:nvSpPr>
        <p:spPr>
          <a:xfrm>
            <a:off x="1143000" y="3543300"/>
            <a:ext cx="2838450" cy="190500"/>
          </a:xfrm>
          <a:custGeom>
            <a:avLst/>
            <a:gdLst/>
            <a:ahLst/>
            <a:cxnLst/>
            <a:rect l="l" t="t" r="r" b="b"/>
            <a:pathLst>
              <a:path w="2838450" h="190500">
                <a:moveTo>
                  <a:pt x="28575" y="0"/>
                </a:moveTo>
                <a:lnTo>
                  <a:pt x="2809875" y="0"/>
                </a:lnTo>
                <a:cubicBezTo>
                  <a:pt x="2825657" y="0"/>
                  <a:pt x="2838450" y="12793"/>
                  <a:pt x="2838450" y="28575"/>
                </a:cubicBezTo>
                <a:lnTo>
                  <a:pt x="2838450" y="161925"/>
                </a:lnTo>
                <a:cubicBezTo>
                  <a:pt x="2838450" y="177707"/>
                  <a:pt x="2825657" y="190500"/>
                  <a:pt x="2809875" y="190500"/>
                </a:cubicBezTo>
                <a:lnTo>
                  <a:pt x="28575" y="190500"/>
                </a:lnTo>
                <a:cubicBezTo>
                  <a:pt x="12793" y="190500"/>
                  <a:pt x="0" y="177707"/>
                  <a:pt x="0" y="161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5F5F5"/>
          </a:solidFill>
          <a:ln w="4762">
            <a:solidFill>
              <a:srgbClr val="E0E0E0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5702618" y="3571399"/>
            <a:ext cx="35370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5.5%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37210" y="3849052"/>
            <a:ext cx="3333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4D4D4D"/>
                </a:solidFill>
                <a:latin typeface="微軟正黑體"/>
                <a:ea typeface="Microsoft JhengHei"/>
                <a:cs typeface="微軟正黑體"/>
              </a:rPr>
              <a:t>聯邦</a:t>
            </a:r>
          </a:p>
        </p:txBody>
      </p:sp>
      <p:sp>
        <p:nvSpPr>
          <p:cNvPr id="26" name="Freeform 26"/>
          <p:cNvSpPr/>
          <p:nvPr/>
        </p:nvSpPr>
        <p:spPr>
          <a:xfrm>
            <a:off x="1143000" y="3829050"/>
            <a:ext cx="2324100" cy="190500"/>
          </a:xfrm>
          <a:custGeom>
            <a:avLst/>
            <a:gdLst/>
            <a:ahLst/>
            <a:cxnLst/>
            <a:rect l="l" t="t" r="r" b="b"/>
            <a:pathLst>
              <a:path w="2324100" h="190500">
                <a:moveTo>
                  <a:pt x="28575" y="0"/>
                </a:moveTo>
                <a:lnTo>
                  <a:pt x="2295525" y="0"/>
                </a:lnTo>
                <a:cubicBezTo>
                  <a:pt x="2311307" y="0"/>
                  <a:pt x="2324100" y="12793"/>
                  <a:pt x="2324100" y="28575"/>
                </a:cubicBezTo>
                <a:lnTo>
                  <a:pt x="2324100" y="161925"/>
                </a:lnTo>
                <a:cubicBezTo>
                  <a:pt x="2324100" y="177707"/>
                  <a:pt x="2311307" y="190500"/>
                  <a:pt x="2295525" y="190500"/>
                </a:cubicBezTo>
                <a:lnTo>
                  <a:pt x="28575" y="190500"/>
                </a:lnTo>
                <a:cubicBezTo>
                  <a:pt x="12793" y="190500"/>
                  <a:pt x="0" y="177707"/>
                  <a:pt x="0" y="161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5F5F5"/>
          </a:solidFill>
          <a:ln w="4762">
            <a:solidFill>
              <a:srgbClr val="E0E0E0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5226368" y="3857149"/>
            <a:ext cx="35370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4.5%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37210" y="4134802"/>
            <a:ext cx="3333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4D4D4D"/>
                </a:solidFill>
                <a:latin typeface="微軟正黑體"/>
                <a:ea typeface="Microsoft JhengHei"/>
                <a:cs typeface="微軟正黑體"/>
              </a:rPr>
              <a:t>永豐</a:t>
            </a:r>
          </a:p>
        </p:txBody>
      </p:sp>
      <p:sp>
        <p:nvSpPr>
          <p:cNvPr id="29" name="Freeform 29"/>
          <p:cNvSpPr/>
          <p:nvPr/>
        </p:nvSpPr>
        <p:spPr>
          <a:xfrm>
            <a:off x="1143000" y="4114800"/>
            <a:ext cx="2076450" cy="190500"/>
          </a:xfrm>
          <a:custGeom>
            <a:avLst/>
            <a:gdLst/>
            <a:ahLst/>
            <a:cxnLst/>
            <a:rect l="l" t="t" r="r" b="b"/>
            <a:pathLst>
              <a:path w="2076450" h="190500">
                <a:moveTo>
                  <a:pt x="28575" y="0"/>
                </a:moveTo>
                <a:lnTo>
                  <a:pt x="2047875" y="0"/>
                </a:lnTo>
                <a:cubicBezTo>
                  <a:pt x="2063657" y="0"/>
                  <a:pt x="2076450" y="12793"/>
                  <a:pt x="2076450" y="28575"/>
                </a:cubicBezTo>
                <a:lnTo>
                  <a:pt x="2076450" y="161925"/>
                </a:lnTo>
                <a:cubicBezTo>
                  <a:pt x="2076450" y="177707"/>
                  <a:pt x="2063657" y="190500"/>
                  <a:pt x="2047875" y="190500"/>
                </a:cubicBezTo>
                <a:lnTo>
                  <a:pt x="28575" y="190500"/>
                </a:lnTo>
                <a:cubicBezTo>
                  <a:pt x="12793" y="190500"/>
                  <a:pt x="0" y="177707"/>
                  <a:pt x="0" y="161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5F5F5"/>
          </a:solidFill>
          <a:ln w="4762">
            <a:solidFill>
              <a:srgbClr val="E0E0E0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4988242" y="4142899"/>
            <a:ext cx="31632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4.1%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44855" y="4616768"/>
            <a:ext cx="206314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微軟正黑體"/>
                <a:ea typeface="Microsoft JhengHei"/>
                <a:cs typeface="微軟正黑體"/>
              </a:rPr>
              <a:t>簽帳金額市占率 Top 5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37210" y="4896802"/>
            <a:ext cx="3333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4D4D4D"/>
                </a:solidFill>
                <a:latin typeface="微軟正黑體"/>
                <a:ea typeface="Microsoft JhengHei"/>
                <a:cs typeface="微軟正黑體"/>
              </a:rPr>
              <a:t>中信</a:t>
            </a:r>
          </a:p>
        </p:txBody>
      </p:sp>
      <p:sp>
        <p:nvSpPr>
          <p:cNvPr id="33" name="Freeform 33"/>
          <p:cNvSpPr/>
          <p:nvPr/>
        </p:nvSpPr>
        <p:spPr>
          <a:xfrm>
            <a:off x="1143000" y="4876800"/>
            <a:ext cx="7143750" cy="190500"/>
          </a:xfrm>
          <a:custGeom>
            <a:avLst/>
            <a:gdLst/>
            <a:ahLst/>
            <a:cxnLst/>
            <a:rect l="l" t="t" r="r" b="b"/>
            <a:pathLst>
              <a:path w="7143750" h="190500">
                <a:moveTo>
                  <a:pt x="28575" y="0"/>
                </a:moveTo>
                <a:lnTo>
                  <a:pt x="7115175" y="0"/>
                </a:lnTo>
                <a:cubicBezTo>
                  <a:pt x="7130957" y="0"/>
                  <a:pt x="7143750" y="12793"/>
                  <a:pt x="7143750" y="28575"/>
                </a:cubicBezTo>
                <a:lnTo>
                  <a:pt x="7143750" y="161925"/>
                </a:lnTo>
                <a:cubicBezTo>
                  <a:pt x="7143750" y="177707"/>
                  <a:pt x="7130957" y="190500"/>
                  <a:pt x="7115175" y="190500"/>
                </a:cubicBezTo>
                <a:lnTo>
                  <a:pt x="28575" y="190500"/>
                </a:lnTo>
                <a:cubicBezTo>
                  <a:pt x="12793" y="190500"/>
                  <a:pt x="0" y="177707"/>
                  <a:pt x="0" y="161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C12026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8369618" y="4904899"/>
            <a:ext cx="3985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18.5%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37210" y="5182552"/>
            <a:ext cx="3333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4D4D4D"/>
                </a:solidFill>
                <a:latin typeface="微軟正黑體"/>
                <a:ea typeface="Microsoft JhengHei"/>
                <a:cs typeface="微軟正黑體"/>
              </a:rPr>
              <a:t>國泰</a:t>
            </a:r>
          </a:p>
        </p:txBody>
      </p:sp>
      <p:sp>
        <p:nvSpPr>
          <p:cNvPr id="36" name="Freeform 36"/>
          <p:cNvSpPr/>
          <p:nvPr/>
        </p:nvSpPr>
        <p:spPr>
          <a:xfrm>
            <a:off x="1143000" y="5162550"/>
            <a:ext cx="5619750" cy="190500"/>
          </a:xfrm>
          <a:custGeom>
            <a:avLst/>
            <a:gdLst/>
            <a:ahLst/>
            <a:cxnLst/>
            <a:rect l="l" t="t" r="r" b="b"/>
            <a:pathLst>
              <a:path w="5619750" h="190500">
                <a:moveTo>
                  <a:pt x="28575" y="0"/>
                </a:moveTo>
                <a:lnTo>
                  <a:pt x="5591175" y="0"/>
                </a:lnTo>
                <a:cubicBezTo>
                  <a:pt x="5606957" y="0"/>
                  <a:pt x="5619750" y="12793"/>
                  <a:pt x="5619750" y="28575"/>
                </a:cubicBezTo>
                <a:lnTo>
                  <a:pt x="5619750" y="161925"/>
                </a:lnTo>
                <a:cubicBezTo>
                  <a:pt x="5619750" y="177707"/>
                  <a:pt x="5606957" y="190500"/>
                  <a:pt x="5591175" y="190500"/>
                </a:cubicBezTo>
                <a:lnTo>
                  <a:pt x="28575" y="190500"/>
                </a:lnTo>
                <a:cubicBezTo>
                  <a:pt x="12793" y="190500"/>
                  <a:pt x="0" y="177707"/>
                  <a:pt x="0" y="161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D32F2F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845618" y="5190649"/>
            <a:ext cx="3985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18.0%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30505" y="54683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4D4D4D"/>
                </a:solidFill>
                <a:latin typeface="微軟正黑體"/>
                <a:ea typeface="Microsoft JhengHei"/>
                <a:cs typeface="微軟正黑體"/>
              </a:rPr>
              <a:t>台北富邦</a:t>
            </a:r>
          </a:p>
        </p:txBody>
      </p:sp>
      <p:sp>
        <p:nvSpPr>
          <p:cNvPr id="39" name="Freeform 39"/>
          <p:cNvSpPr/>
          <p:nvPr/>
        </p:nvSpPr>
        <p:spPr>
          <a:xfrm>
            <a:off x="1143000" y="5448300"/>
            <a:ext cx="4905375" cy="190500"/>
          </a:xfrm>
          <a:custGeom>
            <a:avLst/>
            <a:gdLst/>
            <a:ahLst/>
            <a:cxnLst/>
            <a:rect l="l" t="t" r="r" b="b"/>
            <a:pathLst>
              <a:path w="4905375" h="190500">
                <a:moveTo>
                  <a:pt x="28575" y="0"/>
                </a:moveTo>
                <a:lnTo>
                  <a:pt x="4876800" y="0"/>
                </a:lnTo>
                <a:cubicBezTo>
                  <a:pt x="4892582" y="0"/>
                  <a:pt x="4905375" y="12793"/>
                  <a:pt x="4905375" y="28575"/>
                </a:cubicBezTo>
                <a:lnTo>
                  <a:pt x="4905375" y="161925"/>
                </a:lnTo>
                <a:cubicBezTo>
                  <a:pt x="4905375" y="177707"/>
                  <a:pt x="4892582" y="190500"/>
                  <a:pt x="4876800" y="190500"/>
                </a:cubicBezTo>
                <a:lnTo>
                  <a:pt x="28575" y="190500"/>
                </a:lnTo>
                <a:cubicBezTo>
                  <a:pt x="12793" y="190500"/>
                  <a:pt x="0" y="177707"/>
                  <a:pt x="0" y="161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E57373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131242" y="5476399"/>
            <a:ext cx="3985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12.9%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37210" y="5754052"/>
            <a:ext cx="3333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4D4D4D"/>
                </a:solidFill>
                <a:latin typeface="微軟正黑體"/>
                <a:ea typeface="Microsoft JhengHei"/>
                <a:cs typeface="微軟正黑體"/>
              </a:rPr>
              <a:t>台新</a:t>
            </a:r>
          </a:p>
        </p:txBody>
      </p:sp>
      <p:sp>
        <p:nvSpPr>
          <p:cNvPr id="42" name="Freeform 42"/>
          <p:cNvSpPr/>
          <p:nvPr/>
        </p:nvSpPr>
        <p:spPr>
          <a:xfrm>
            <a:off x="1143000" y="5734050"/>
            <a:ext cx="4572000" cy="190500"/>
          </a:xfrm>
          <a:custGeom>
            <a:avLst/>
            <a:gdLst/>
            <a:ahLst/>
            <a:cxnLst/>
            <a:rect l="l" t="t" r="r" b="b"/>
            <a:pathLst>
              <a:path w="4572000" h="190500">
                <a:moveTo>
                  <a:pt x="28575" y="0"/>
                </a:moveTo>
                <a:lnTo>
                  <a:pt x="4543425" y="0"/>
                </a:lnTo>
                <a:cubicBezTo>
                  <a:pt x="4559207" y="0"/>
                  <a:pt x="4572000" y="12793"/>
                  <a:pt x="4572000" y="28575"/>
                </a:cubicBezTo>
                <a:lnTo>
                  <a:pt x="4572000" y="161925"/>
                </a:lnTo>
                <a:cubicBezTo>
                  <a:pt x="4572000" y="177707"/>
                  <a:pt x="4559207" y="190500"/>
                  <a:pt x="4543425" y="190500"/>
                </a:cubicBezTo>
                <a:lnTo>
                  <a:pt x="28575" y="190500"/>
                </a:lnTo>
                <a:cubicBezTo>
                  <a:pt x="12793" y="190500"/>
                  <a:pt x="0" y="177707"/>
                  <a:pt x="0" y="161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CDD2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5797868" y="5762149"/>
            <a:ext cx="3985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C12026"/>
                </a:solidFill>
                <a:latin typeface="Segoe UI"/>
                <a:ea typeface="Microsoft YaHei"/>
                <a:cs typeface="Segoe UI"/>
              </a:rPr>
              <a:t>10.7%</a:t>
            </a:r>
          </a:p>
        </p:txBody>
      </p:sp>
      <p:pic>
        <p:nvPicPr>
          <p:cNvPr id="44" name="Imag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228" y="6229350"/>
            <a:ext cx="1576864" cy="600075"/>
          </a:xfrm>
          <a:prstGeom prst="rect">
            <a:avLst/>
          </a:prstGeom>
        </p:spPr>
      </p:pic>
      <p:sp>
        <p:nvSpPr>
          <p:cNvPr id="45" name="Rectangle 45"/>
          <p:cNvSpPr/>
          <p:nvPr/>
        </p:nvSpPr>
        <p:spPr>
          <a:xfrm>
            <a:off x="1952625" y="6457950"/>
            <a:ext cx="8334375" cy="14288"/>
          </a:xfrm>
          <a:prstGeom prst="rect">
            <a:avLst/>
          </a:prstGeom>
          <a:solidFill>
            <a:srgbClr val="C12026"/>
          </a:solidFill>
          <a:ln>
            <a:noFill/>
          </a:ln>
        </p:spPr>
      </p:sp>
      <p:sp>
        <p:nvSpPr>
          <p:cNvPr id="46" name="Rectangle 46"/>
          <p:cNvSpPr/>
          <p:nvPr/>
        </p:nvSpPr>
        <p:spPr>
          <a:xfrm>
            <a:off x="10287000" y="6457950"/>
            <a:ext cx="1457325" cy="14288"/>
          </a:xfrm>
          <a:prstGeom prst="rect">
            <a:avLst/>
          </a:prstGeom>
          <a:solidFill>
            <a:srgbClr val="CCCCCC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11999071" y="6611302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微軟正黑體"/>
                <a:ea typeface="Microsoft JhengHei"/>
                <a:cs typeface="微軟正黑體"/>
              </a:rPr>
              <a:t>6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567606" y="6611302"/>
            <a:ext cx="11614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智  慧  好  夥  伴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42EACCD-9592-4143-BD71-AAD39088808C}"/>
              </a:ext>
            </a:extLst>
          </p:cNvPr>
          <p:cNvSpPr/>
          <p:nvPr/>
        </p:nvSpPr>
        <p:spPr>
          <a:xfrm>
            <a:off x="6175976" y="1945957"/>
            <a:ext cx="4111023" cy="1797368"/>
          </a:xfrm>
          <a:prstGeom prst="rect">
            <a:avLst/>
          </a:prstGeom>
          <a:solidFill>
            <a:srgbClr val="FFFF00">
              <a:alpha val="20000"/>
            </a:srgbClr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750ED704-1E21-45D3-9995-CB2EBA4C04D4}"/>
              </a:ext>
            </a:extLst>
          </p:cNvPr>
          <p:cNvSpPr txBox="1"/>
          <p:nvPr/>
        </p:nvSpPr>
        <p:spPr>
          <a:xfrm>
            <a:off x="8624753" y="383000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數值與排序有誤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37E73989-6A26-4B05-BE51-F5DC7985BE4C}"/>
              </a:ext>
            </a:extLst>
          </p:cNvPr>
          <p:cNvSpPr/>
          <p:nvPr/>
        </p:nvSpPr>
        <p:spPr>
          <a:xfrm>
            <a:off x="5226368" y="4655344"/>
            <a:ext cx="4111023" cy="1584484"/>
          </a:xfrm>
          <a:prstGeom prst="rect">
            <a:avLst/>
          </a:prstGeom>
          <a:solidFill>
            <a:srgbClr val="FFFF00">
              <a:alpha val="20000"/>
            </a:srgbClr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B13F9DD3-ED3C-45A8-956D-43FC8704942C}"/>
              </a:ext>
            </a:extLst>
          </p:cNvPr>
          <p:cNvSpPr txBox="1"/>
          <p:nvPr/>
        </p:nvSpPr>
        <p:spPr>
          <a:xfrm>
            <a:off x="9386753" y="6019086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數值與排序有誤</a:t>
            </a:r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59BCF2C2-FECD-40BA-9A5F-EAEB0183A7F7}"/>
              </a:ext>
            </a:extLst>
          </p:cNvPr>
          <p:cNvSpPr txBox="1"/>
          <p:nvPr/>
        </p:nvSpPr>
        <p:spPr>
          <a:xfrm>
            <a:off x="7139351" y="1093826"/>
            <a:ext cx="4086375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說明有誤：</a:t>
            </a:r>
            <a:r>
              <a:rPr lang="en-US" altLang="zh-TW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10.7%</a:t>
            </a:r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為何會高於</a:t>
            </a:r>
            <a:r>
              <a:rPr lang="en-US" altLang="zh-TW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11.0%</a:t>
            </a:r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？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55B66663-BE9B-44D5-A656-9441D95D3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(P.7</a:t>
            </a:r>
            <a:r>
              <a:rPr lang="zh-TW" altLang="en-US" dirty="0"/>
              <a:t> 預期修正</a:t>
            </a:r>
            <a:r>
              <a:rPr lang="en-US" altLang="zh-TW" dirty="0"/>
              <a:t>)</a:t>
            </a:r>
            <a:r>
              <a:rPr lang="zh-TW" altLang="en-US" dirty="0"/>
              <a:t>市占率排名 </a:t>
            </a:r>
            <a:r>
              <a:rPr lang="en-US" altLang="zh-TW" dirty="0"/>
              <a:t>— Top 10 </a:t>
            </a:r>
            <a:r>
              <a:rPr lang="zh-TW" altLang="en-US" dirty="0"/>
              <a:t>銀行流通卡數與簽帳金額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BD31BC7-68DD-4189-BDED-499D67BF63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fld id="{00000000-1234-1234-1234-123412341234}" type="slidenum">
              <a:rPr kumimoji="0" lang="en-US" altLang="zh-TW" sz="1100" b="0" i="0" u="none" strike="noStrike" kern="1200" cap="none" spc="0" normalizeH="0" baseline="0" noProof="0" smtClean="0">
                <a:ln>
                  <a:noFill/>
                </a:ln>
                <a:solidFill>
                  <a:srgbClr val="656565"/>
                </a:solidFill>
                <a:effectLst/>
                <a:uLnTx/>
                <a:uFillTx/>
                <a:latin typeface="Noto Sans"/>
                <a:ea typeface="Noto Sans"/>
                <a:cs typeface="Noto Sans"/>
                <a:sym typeface="Noto San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  <a:tabLst/>
                <a:defRPr/>
              </a:pPr>
              <a:t>8</a:t>
            </a:fld>
            <a:endParaRPr kumimoji="0" lang="zh-TW" altLang="en-US" sz="1100" b="0" i="0" u="none" strike="noStrike" kern="1200" cap="none" spc="0" normalizeH="0" baseline="0" noProof="0">
              <a:ln>
                <a:noFill/>
              </a:ln>
              <a:solidFill>
                <a:srgbClr val="656565"/>
              </a:solidFill>
              <a:effectLst/>
              <a:uLnTx/>
              <a:uFillTx/>
              <a:latin typeface="Noto Sans"/>
              <a:cs typeface="Noto Sans"/>
              <a:sym typeface="Noto Sans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85A04C8-3631-4D17-B75D-1ACD90741681}"/>
              </a:ext>
            </a:extLst>
          </p:cNvPr>
          <p:cNvSpPr txBox="1"/>
          <p:nvPr/>
        </p:nvSpPr>
        <p:spPr>
          <a:xfrm>
            <a:off x="1191511" y="6165673"/>
            <a:ext cx="5557932" cy="369332"/>
          </a:xfrm>
          <a:prstGeom prst="rect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可點選圖表右鍵「編輯資料」查看原始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EXCEL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資料表</a:t>
            </a:r>
          </a:p>
        </p:txBody>
      </p:sp>
      <p:graphicFrame>
        <p:nvGraphicFramePr>
          <p:cNvPr id="9" name="圖表 8">
            <a:extLst>
              <a:ext uri="{FF2B5EF4-FFF2-40B4-BE49-F238E27FC236}">
                <a16:creationId xmlns:a16="http://schemas.microsoft.com/office/drawing/2014/main" id="{CB21993F-A912-4F3D-A618-F19603BD3B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8947266"/>
              </p:ext>
            </p:extLst>
          </p:nvPr>
        </p:nvGraphicFramePr>
        <p:xfrm>
          <a:off x="608422" y="1758839"/>
          <a:ext cx="10091109" cy="26239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圖表 9">
            <a:extLst>
              <a:ext uri="{FF2B5EF4-FFF2-40B4-BE49-F238E27FC236}">
                <a16:creationId xmlns:a16="http://schemas.microsoft.com/office/drawing/2014/main" id="{B6F0B679-F25A-4901-88C2-134C3756A2D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69720919"/>
              </p:ext>
            </p:extLst>
          </p:nvPr>
        </p:nvGraphicFramePr>
        <p:xfrm>
          <a:off x="714703" y="4382812"/>
          <a:ext cx="9984828" cy="16934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Freeform 4">
            <a:extLst>
              <a:ext uri="{FF2B5EF4-FFF2-40B4-BE49-F238E27FC236}">
                <a16:creationId xmlns:a16="http://schemas.microsoft.com/office/drawing/2014/main" id="{D7B639C9-606A-4557-989A-AB34E6E8C15B}"/>
              </a:ext>
            </a:extLst>
          </p:cNvPr>
          <p:cNvSpPr/>
          <p:nvPr/>
        </p:nvSpPr>
        <p:spPr>
          <a:xfrm>
            <a:off x="762000" y="1285875"/>
            <a:ext cx="10668000" cy="457200"/>
          </a:xfrm>
          <a:custGeom>
            <a:avLst/>
            <a:gdLst/>
            <a:ahLst/>
            <a:cxnLst/>
            <a:rect l="l" t="t" r="r" b="b"/>
            <a:pathLst>
              <a:path w="10668000" h="457200">
                <a:moveTo>
                  <a:pt x="57150" y="0"/>
                </a:moveTo>
                <a:lnTo>
                  <a:pt x="10610850" y="0"/>
                </a:lnTo>
                <a:cubicBezTo>
                  <a:pt x="10642413" y="0"/>
                  <a:pt x="10668000" y="25587"/>
                  <a:pt x="10668000" y="57150"/>
                </a:cubicBezTo>
                <a:lnTo>
                  <a:pt x="10668000" y="400050"/>
                </a:lnTo>
                <a:cubicBezTo>
                  <a:pt x="10668000" y="431613"/>
                  <a:pt x="10642413" y="457200"/>
                  <a:pt x="10610850" y="457200"/>
                </a:cubicBezTo>
                <a:lnTo>
                  <a:pt x="57150" y="457200"/>
                </a:lnTo>
                <a:cubicBezTo>
                  <a:pt x="25587" y="457200"/>
                  <a:pt x="0" y="431613"/>
                  <a:pt x="0" y="4000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5F5"/>
          </a:solidFill>
          <a:ln>
            <a:noFill/>
          </a:ln>
        </p:spPr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71C95406-4D70-4437-A0B5-C0EDA7FC3A89}"/>
              </a:ext>
            </a:extLst>
          </p:cNvPr>
          <p:cNvSpPr txBox="1"/>
          <p:nvPr/>
        </p:nvSpPr>
        <p:spPr>
          <a:xfrm>
            <a:off x="937260" y="1442085"/>
            <a:ext cx="4887556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C12026"/>
                </a:solidFill>
                <a:latin typeface="微軟正黑體"/>
                <a:ea typeface="Microsoft JhengHei"/>
                <a:cs typeface="微軟正黑體"/>
              </a:rPr>
              <a:t>◆ 中信以 946 萬卡穩居第一</a:t>
            </a:r>
            <a:r>
              <a:rPr lang="zh-TW" altLang="en-US" sz="1200" b="1" dirty="0">
                <a:solidFill>
                  <a:srgbClr val="C12026"/>
                </a:solidFill>
                <a:latin typeface="微軟正黑體"/>
                <a:ea typeface="Microsoft JhengHei"/>
                <a:cs typeface="微軟正黑體"/>
              </a:rPr>
              <a:t>。</a:t>
            </a:r>
            <a:r>
              <a:rPr lang="zh-CN" sz="1200" b="1" dirty="0">
                <a:solidFill>
                  <a:srgbClr val="C12026"/>
                </a:solidFill>
                <a:latin typeface="微軟正黑體"/>
                <a:ea typeface="Microsoft JhengHei"/>
                <a:cs typeface="微軟正黑體"/>
              </a:rPr>
              <a:t>台新簽帳市占 10.</a:t>
            </a:r>
            <a:r>
              <a:rPr lang="en-US" altLang="zh-TW" sz="1200" b="1" dirty="0">
                <a:solidFill>
                  <a:srgbClr val="C12026"/>
                </a:solidFill>
                <a:latin typeface="微軟正黑體"/>
                <a:ea typeface="Microsoft JhengHei"/>
                <a:cs typeface="微軟正黑體"/>
              </a:rPr>
              <a:t>6</a:t>
            </a:r>
            <a:r>
              <a:rPr lang="zh-CN" sz="1200" b="1" dirty="0">
                <a:solidFill>
                  <a:srgbClr val="C12026"/>
                </a:solidFill>
                <a:latin typeface="微軟正黑體"/>
                <a:ea typeface="Microsoft JhengHei"/>
                <a:cs typeface="微軟正黑體"/>
              </a:rPr>
              <a:t>% </a:t>
            </a:r>
            <a:r>
              <a:rPr lang="zh-TW" altLang="en-US" sz="1200" b="1" dirty="0">
                <a:solidFill>
                  <a:srgbClr val="C12026"/>
                </a:solidFill>
                <a:latin typeface="微軟正黑體"/>
                <a:ea typeface="Microsoft JhengHei"/>
                <a:cs typeface="微軟正黑體"/>
              </a:rPr>
              <a:t>，</a:t>
            </a:r>
            <a:r>
              <a:rPr lang="zh-CN" sz="1200" b="1" dirty="0">
                <a:solidFill>
                  <a:srgbClr val="C12026"/>
                </a:solidFill>
                <a:latin typeface="微軟正黑體"/>
                <a:ea typeface="Microsoft JhengHei"/>
                <a:cs typeface="微軟正黑體"/>
              </a:rPr>
              <a:t>流通卡市占 11.</a:t>
            </a:r>
            <a:r>
              <a:rPr lang="en-US" altLang="zh-TW" sz="1200" b="1" dirty="0">
                <a:solidFill>
                  <a:srgbClr val="C12026"/>
                </a:solidFill>
                <a:latin typeface="微軟正黑體"/>
                <a:ea typeface="Microsoft JhengHei"/>
                <a:cs typeface="微軟正黑體"/>
              </a:rPr>
              <a:t>1</a:t>
            </a:r>
            <a:r>
              <a:rPr lang="zh-CN" sz="1200" b="1" dirty="0">
                <a:solidFill>
                  <a:srgbClr val="C12026"/>
                </a:solidFill>
                <a:latin typeface="微軟正黑體"/>
                <a:ea typeface="Microsoft JhengHei"/>
                <a:cs typeface="微軟正黑體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411174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5442466" y="2584132"/>
            <a:ext cx="13070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C12026"/>
                </a:solidFill>
                <a:latin typeface="微軟正黑體"/>
                <a:ea typeface="Microsoft JhengHei"/>
                <a:cs typeface="微軟正黑體"/>
              </a:rPr>
              <a:t>CHAPTER 02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394073" y="2849880"/>
            <a:ext cx="3403854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4D4D4D"/>
                </a:solidFill>
                <a:latin typeface="微軟正黑體"/>
                <a:ea typeface="Microsoft JhengHei"/>
                <a:cs typeface="微軟正黑體"/>
              </a:rPr>
              <a:t>同業競爭分析</a:t>
            </a:r>
          </a:p>
        </p:txBody>
      </p:sp>
      <p:sp>
        <p:nvSpPr>
          <p:cNvPr id="5" name="Rectangle 5"/>
          <p:cNvSpPr/>
          <p:nvPr/>
        </p:nvSpPr>
        <p:spPr>
          <a:xfrm>
            <a:off x="5143500" y="3810000"/>
            <a:ext cx="1905000" cy="28575"/>
          </a:xfrm>
          <a:prstGeom prst="rect">
            <a:avLst/>
          </a:prstGeom>
          <a:solidFill>
            <a:srgbClr val="C12026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1999071" y="6611302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微軟正黑體"/>
                <a:ea typeface="Microsoft JhengHei"/>
                <a:cs typeface="微軟正黑體"/>
              </a:rPr>
              <a:t>7</a:t>
            </a:r>
          </a:p>
        </p:txBody>
      </p:sp>
      <p:pic>
        <p:nvPicPr>
          <p:cNvPr id="7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6874" y="5695950"/>
            <a:ext cx="2778252" cy="105727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33425" y="614362"/>
            <a:ext cx="5347811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1A1A1A"/>
                </a:solidFill>
                <a:latin typeface="微軟正黑體"/>
                <a:ea typeface="Microsoft JhengHei"/>
                <a:cs typeface="微軟正黑體"/>
              </a:rPr>
              <a:t>規模 vs 成長 — 流通卡數 YoY 散點圖</a:t>
            </a:r>
          </a:p>
        </p:txBody>
      </p:sp>
      <p:sp>
        <p:nvSpPr>
          <p:cNvPr id="4" name="Freeform 4"/>
          <p:cNvSpPr/>
          <p:nvPr/>
        </p:nvSpPr>
        <p:spPr>
          <a:xfrm>
            <a:off x="762000" y="1285875"/>
            <a:ext cx="10668000" cy="457200"/>
          </a:xfrm>
          <a:custGeom>
            <a:avLst/>
            <a:gdLst/>
            <a:ahLst/>
            <a:cxnLst/>
            <a:rect l="l" t="t" r="r" b="b"/>
            <a:pathLst>
              <a:path w="10668000" h="457200">
                <a:moveTo>
                  <a:pt x="57150" y="0"/>
                </a:moveTo>
                <a:lnTo>
                  <a:pt x="10610850" y="0"/>
                </a:lnTo>
                <a:cubicBezTo>
                  <a:pt x="10642413" y="0"/>
                  <a:pt x="10668000" y="25587"/>
                  <a:pt x="10668000" y="57150"/>
                </a:cubicBezTo>
                <a:lnTo>
                  <a:pt x="10668000" y="400050"/>
                </a:lnTo>
                <a:cubicBezTo>
                  <a:pt x="10668000" y="431613"/>
                  <a:pt x="10642413" y="457200"/>
                  <a:pt x="10610850" y="457200"/>
                </a:cubicBezTo>
                <a:lnTo>
                  <a:pt x="57150" y="457200"/>
                </a:lnTo>
                <a:cubicBezTo>
                  <a:pt x="25587" y="457200"/>
                  <a:pt x="0" y="431613"/>
                  <a:pt x="0" y="4000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5F5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37260" y="1442085"/>
            <a:ext cx="644368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C12026"/>
                </a:solidFill>
                <a:latin typeface="微軟正黑體"/>
                <a:ea typeface="Microsoft JhengHei"/>
                <a:cs typeface="微軟正黑體"/>
              </a:rPr>
              <a:t>◆ 右上角為理想區（規模大且成長快）；台新位於左上，需加速發卡以擴大規模</a:t>
            </a:r>
          </a:p>
        </p:txBody>
      </p:sp>
      <p:sp>
        <p:nvSpPr>
          <p:cNvPr id="6" name="Line 6"/>
          <p:cNvSpPr/>
          <p:nvPr/>
        </p:nvSpPr>
        <p:spPr>
          <a:xfrm>
            <a:off x="1524000" y="1714500"/>
            <a:ext cx="9525" cy="3905250"/>
          </a:xfrm>
          <a:custGeom>
            <a:avLst/>
            <a:gdLst/>
            <a:ahLst/>
            <a:cxnLst/>
            <a:rect l="l" t="t" r="r" b="b"/>
            <a:pathLst>
              <a:path w="9525" h="3905250">
                <a:moveTo>
                  <a:pt x="0" y="0"/>
                </a:moveTo>
                <a:lnTo>
                  <a:pt x="0" y="3905250"/>
                </a:lnTo>
              </a:path>
            </a:pathLst>
          </a:custGeom>
          <a:noFill/>
          <a:ln w="14288">
            <a:solidFill>
              <a:srgbClr val="333333"/>
            </a:solidFill>
          </a:ln>
        </p:spPr>
      </p:sp>
      <p:sp>
        <p:nvSpPr>
          <p:cNvPr id="7" name="Line 7"/>
          <p:cNvSpPr/>
          <p:nvPr/>
        </p:nvSpPr>
        <p:spPr>
          <a:xfrm>
            <a:off x="1524000" y="5619750"/>
            <a:ext cx="9715500" cy="9525"/>
          </a:xfrm>
          <a:custGeom>
            <a:avLst/>
            <a:gdLst/>
            <a:ahLst/>
            <a:cxnLst/>
            <a:rect l="l" t="t" r="r" b="b"/>
            <a:pathLst>
              <a:path w="9715500" h="9525">
                <a:moveTo>
                  <a:pt x="0" y="0"/>
                </a:moveTo>
                <a:lnTo>
                  <a:pt x="9715500" y="0"/>
                </a:lnTo>
              </a:path>
            </a:pathLst>
          </a:custGeom>
          <a:noFill/>
          <a:ln w="14288">
            <a:solidFill>
              <a:srgbClr val="333333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5218271" y="6077902"/>
            <a:ext cx="23269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微軟正黑體"/>
                <a:ea typeface="Microsoft JhengHei"/>
                <a:cs typeface="微軟正黑體"/>
              </a:rPr>
              <a:t>流通卡數規模（萬張，114年12月）</a:t>
            </a:r>
          </a:p>
        </p:txBody>
      </p:sp>
      <p:sp>
        <p:nvSpPr>
          <p:cNvPr id="9" name="TextBox 9"/>
          <p:cNvSpPr txBox="1"/>
          <p:nvPr/>
        </p:nvSpPr>
        <p:spPr>
          <a:xfrm rot="-5400000">
            <a:off x="-395859" y="3506152"/>
            <a:ext cx="174421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微軟正黑體"/>
                <a:ea typeface="Microsoft JhengHei"/>
                <a:cs typeface="微軟正黑體"/>
              </a:rPr>
              <a:t>流通卡數 YoY 年增率 (%)</a:t>
            </a:r>
          </a:p>
        </p:txBody>
      </p:sp>
      <p:sp>
        <p:nvSpPr>
          <p:cNvPr id="10" name="Line 10"/>
          <p:cNvSpPr/>
          <p:nvPr/>
        </p:nvSpPr>
        <p:spPr>
          <a:xfrm>
            <a:off x="1524000" y="3619500"/>
            <a:ext cx="9715500" cy="9525"/>
          </a:xfrm>
          <a:custGeom>
            <a:avLst/>
            <a:gdLst/>
            <a:ahLst/>
            <a:cxnLst/>
            <a:rect l="l" t="t" r="r" b="b"/>
            <a:pathLst>
              <a:path w="9715500" h="9525">
                <a:moveTo>
                  <a:pt x="0" y="0"/>
                </a:moveTo>
                <a:lnTo>
                  <a:pt x="9715500" y="0"/>
                </a:lnTo>
              </a:path>
            </a:pathLst>
          </a:custGeom>
          <a:noFill/>
          <a:ln w="9525">
            <a:solidFill>
              <a:srgbClr val="E0E0E0"/>
            </a:solidFill>
            <a:prstDash val="dash"/>
          </a:ln>
        </p:spPr>
      </p:sp>
      <p:sp>
        <p:nvSpPr>
          <p:cNvPr id="11" name="Line 11"/>
          <p:cNvSpPr/>
          <p:nvPr/>
        </p:nvSpPr>
        <p:spPr>
          <a:xfrm>
            <a:off x="1524000" y="1714500"/>
            <a:ext cx="9525" cy="3905250"/>
          </a:xfrm>
          <a:custGeom>
            <a:avLst/>
            <a:gdLst/>
            <a:ahLst/>
            <a:cxnLst/>
            <a:rect l="l" t="t" r="r" b="b"/>
            <a:pathLst>
              <a:path w="9525" h="3905250">
                <a:moveTo>
                  <a:pt x="0" y="0"/>
                </a:moveTo>
                <a:lnTo>
                  <a:pt x="0" y="3905250"/>
                </a:lnTo>
              </a:path>
            </a:pathLst>
          </a:custGeom>
          <a:noFill/>
          <a:ln w="14288">
            <a:solidFill>
              <a:srgbClr val="333333"/>
            </a:solidFill>
          </a:ln>
        </p:spPr>
      </p:sp>
      <p:sp>
        <p:nvSpPr>
          <p:cNvPr id="12" name="Line 12"/>
          <p:cNvSpPr/>
          <p:nvPr/>
        </p:nvSpPr>
        <p:spPr>
          <a:xfrm>
            <a:off x="5334000" y="1714500"/>
            <a:ext cx="9525" cy="3905250"/>
          </a:xfrm>
          <a:custGeom>
            <a:avLst/>
            <a:gdLst/>
            <a:ahLst/>
            <a:cxnLst/>
            <a:rect l="l" t="t" r="r" b="b"/>
            <a:pathLst>
              <a:path w="9525" h="3905250">
                <a:moveTo>
                  <a:pt x="0" y="0"/>
                </a:moveTo>
                <a:lnTo>
                  <a:pt x="0" y="3905250"/>
                </a:lnTo>
              </a:path>
            </a:pathLst>
          </a:custGeom>
          <a:noFill/>
          <a:ln w="9525">
            <a:solidFill>
              <a:srgbClr val="E0E0E0"/>
            </a:solidFill>
            <a:prstDash val="dash"/>
          </a:ln>
        </p:spPr>
      </p:sp>
      <p:sp>
        <p:nvSpPr>
          <p:cNvPr id="13" name="TextBox 13"/>
          <p:cNvSpPr txBox="1"/>
          <p:nvPr/>
        </p:nvSpPr>
        <p:spPr>
          <a:xfrm>
            <a:off x="3416618" y="1894999"/>
            <a:ext cx="85779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00000"/>
                </a:solidFill>
                <a:latin typeface="微軟正黑體"/>
                <a:ea typeface="Microsoft YaHei"/>
                <a:cs typeface="微軟正黑體"/>
              </a:rPr>
              <a:t>⬆ 高效成長區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274368" y="1894999"/>
            <a:ext cx="85779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00000"/>
                </a:solidFill>
                <a:latin typeface="微軟正黑體"/>
                <a:ea typeface="Microsoft YaHei"/>
                <a:cs typeface="微軟正黑體"/>
              </a:rPr>
              <a:t>⬆ 龍頭擴張區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416618" y="5228749"/>
            <a:ext cx="5730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微軟正黑體"/>
                <a:ea typeface="Microsoft YaHei"/>
                <a:cs typeface="微軟正黑體"/>
              </a:rPr>
              <a:t>⬇ 收縮區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74368" y="5228749"/>
            <a:ext cx="85779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CCCC"/>
                </a:solidFill>
                <a:latin typeface="微軟正黑體"/>
                <a:ea typeface="Microsoft YaHei"/>
                <a:cs typeface="微軟正黑體"/>
              </a:rPr>
              <a:t>⬇ 成熟穩定期</a:t>
            </a:r>
          </a:p>
        </p:txBody>
      </p:sp>
      <p:sp>
        <p:nvSpPr>
          <p:cNvPr id="17" name="Ellipse 17"/>
          <p:cNvSpPr/>
          <p:nvPr/>
        </p:nvSpPr>
        <p:spPr>
          <a:xfrm>
            <a:off x="11125200" y="4895850"/>
            <a:ext cx="228600" cy="228600"/>
          </a:xfrm>
          <a:prstGeom prst="ellipse">
            <a:avLst/>
          </a:prstGeom>
          <a:solidFill>
            <a:srgbClr val="C12026">
              <a:alpha val="80000"/>
            </a:srgbClr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0873740" y="4844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中信</a:t>
            </a:r>
          </a:p>
        </p:txBody>
      </p:sp>
      <p:sp>
        <p:nvSpPr>
          <p:cNvPr id="19" name="Ellipse 19"/>
          <p:cNvSpPr/>
          <p:nvPr/>
        </p:nvSpPr>
        <p:spPr>
          <a:xfrm>
            <a:off x="10182225" y="2276475"/>
            <a:ext cx="209550" cy="209550"/>
          </a:xfrm>
          <a:prstGeom prst="ellipse">
            <a:avLst/>
          </a:prstGeom>
          <a:solidFill>
            <a:srgbClr val="D32F2F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9909191" y="2235041"/>
            <a:ext cx="27398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玉山</a:t>
            </a:r>
          </a:p>
        </p:txBody>
      </p:sp>
      <p:sp>
        <p:nvSpPr>
          <p:cNvPr id="21" name="Ellipse 21"/>
          <p:cNvSpPr/>
          <p:nvPr/>
        </p:nvSpPr>
        <p:spPr>
          <a:xfrm>
            <a:off x="9010650" y="5295900"/>
            <a:ext cx="190500" cy="190500"/>
          </a:xfrm>
          <a:prstGeom prst="ellipse">
            <a:avLst/>
          </a:prstGeom>
          <a:solidFill>
            <a:srgbClr val="E57373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740140" y="5225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北富</a:t>
            </a:r>
          </a:p>
        </p:txBody>
      </p:sp>
      <p:sp>
        <p:nvSpPr>
          <p:cNvPr id="23" name="Ellipse 23"/>
          <p:cNvSpPr/>
          <p:nvPr/>
        </p:nvSpPr>
        <p:spPr>
          <a:xfrm>
            <a:off x="8972550" y="5943600"/>
            <a:ext cx="190500" cy="190500"/>
          </a:xfrm>
          <a:prstGeom prst="ellipse">
            <a:avLst/>
          </a:prstGeom>
          <a:solidFill>
            <a:srgbClr val="EF9A9A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702040" y="58735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國泰</a:t>
            </a:r>
          </a:p>
        </p:txBody>
      </p:sp>
      <p:sp>
        <p:nvSpPr>
          <p:cNvPr id="25" name="Ellipse 25"/>
          <p:cNvSpPr/>
          <p:nvPr/>
        </p:nvSpPr>
        <p:spPr>
          <a:xfrm>
            <a:off x="7781925" y="5353050"/>
            <a:ext cx="228600" cy="228600"/>
          </a:xfrm>
          <a:prstGeom prst="ellipse">
            <a:avLst/>
          </a:prstGeom>
          <a:solidFill>
            <a:srgbClr val="FF5722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037195" y="5284470"/>
            <a:ext cx="41620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C12026"/>
                </a:solidFill>
                <a:latin typeface="Segoe UI"/>
                <a:ea typeface="Microsoft YaHei"/>
                <a:cs typeface="Segoe UI"/>
              </a:rPr>
              <a:t>台新 ★</a:t>
            </a:r>
          </a:p>
        </p:txBody>
      </p:sp>
      <p:sp>
        <p:nvSpPr>
          <p:cNvPr id="27" name="Ellipse 27"/>
          <p:cNvSpPr/>
          <p:nvPr/>
        </p:nvSpPr>
        <p:spPr>
          <a:xfrm>
            <a:off x="4267200" y="5295900"/>
            <a:ext cx="152400" cy="152400"/>
          </a:xfrm>
          <a:prstGeom prst="ellipse">
            <a:avLst/>
          </a:prstGeom>
          <a:solidFill>
            <a:srgbClr val="FFCDD2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3977640" y="5225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星展</a:t>
            </a:r>
          </a:p>
        </p:txBody>
      </p:sp>
      <p:sp>
        <p:nvSpPr>
          <p:cNvPr id="29" name="Ellipse 29"/>
          <p:cNvSpPr/>
          <p:nvPr/>
        </p:nvSpPr>
        <p:spPr>
          <a:xfrm>
            <a:off x="3543300" y="5743575"/>
            <a:ext cx="133350" cy="133350"/>
          </a:xfrm>
          <a:prstGeom prst="ellipse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3244215" y="566404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聯邦</a:t>
            </a:r>
          </a:p>
        </p:txBody>
      </p:sp>
      <p:sp>
        <p:nvSpPr>
          <p:cNvPr id="31" name="Ellipse 31"/>
          <p:cNvSpPr/>
          <p:nvPr/>
        </p:nvSpPr>
        <p:spPr>
          <a:xfrm>
            <a:off x="3248025" y="4048125"/>
            <a:ext cx="133350" cy="133350"/>
          </a:xfrm>
          <a:prstGeom prst="ellipse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2948940" y="39685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永豐</a:t>
            </a:r>
          </a:p>
        </p:txBody>
      </p:sp>
      <p:sp>
        <p:nvSpPr>
          <p:cNvPr id="33" name="Ellipse 33"/>
          <p:cNvSpPr/>
          <p:nvPr/>
        </p:nvSpPr>
        <p:spPr>
          <a:xfrm>
            <a:off x="1847850" y="1562100"/>
            <a:ext cx="114300" cy="114300"/>
          </a:xfrm>
          <a:prstGeom prst="ellipse">
            <a:avLst/>
          </a:prstGeom>
          <a:solidFill>
            <a:srgbClr val="FF8A80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1989772" y="1482566"/>
            <a:ext cx="27398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C12026"/>
                </a:solidFill>
                <a:latin typeface="Segoe UI"/>
                <a:ea typeface="Microsoft YaHei"/>
                <a:cs typeface="Segoe UI"/>
              </a:rPr>
              <a:t>樂天</a:t>
            </a:r>
          </a:p>
        </p:txBody>
      </p:sp>
      <p:sp>
        <p:nvSpPr>
          <p:cNvPr id="35" name="Freeform 35"/>
          <p:cNvSpPr/>
          <p:nvPr/>
        </p:nvSpPr>
        <p:spPr>
          <a:xfrm>
            <a:off x="762000" y="58578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lnTo>
                  <a:pt x="66675" y="0"/>
                </a:lnTo>
                <a:cubicBezTo>
                  <a:pt x="103499" y="0"/>
                  <a:pt x="133350" y="29851"/>
                  <a:pt x="133350" y="66675"/>
                </a:cubicBezTo>
                <a:lnTo>
                  <a:pt x="133350" y="66675"/>
                </a:lnTo>
                <a:cubicBezTo>
                  <a:pt x="133350" y="103499"/>
                  <a:pt x="103499" y="133350"/>
                  <a:pt x="66675" y="133350"/>
                </a:cubicBezTo>
                <a:lnTo>
                  <a:pt x="66675" y="133350"/>
                </a:lnTo>
                <a:cubicBezTo>
                  <a:pt x="29851" y="133350"/>
                  <a:pt x="0" y="103499"/>
                  <a:pt x="0" y="66675"/>
                </a:cubicBezTo>
                <a:lnTo>
                  <a:pt x="0" y="66675"/>
                </a:lnTo>
                <a:cubicBezTo>
                  <a:pt x="0" y="29851"/>
                  <a:pt x="29851" y="0"/>
                  <a:pt x="66675" y="0"/>
                </a:cubicBezTo>
                <a:close/>
              </a:path>
            </a:pathLst>
          </a:custGeom>
          <a:solidFill>
            <a:srgbClr val="FF5722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940118" y="5866924"/>
            <a:ext cx="13063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微軟正黑體"/>
                <a:ea typeface="Microsoft JhengHei"/>
                <a:cs typeface="微軟正黑體"/>
              </a:rPr>
              <a:t>台新（本報告焦點）</a:t>
            </a:r>
          </a:p>
        </p:txBody>
      </p:sp>
      <p:pic>
        <p:nvPicPr>
          <p:cNvPr id="37" name="Imag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228" y="6229350"/>
            <a:ext cx="1576864" cy="600075"/>
          </a:xfrm>
          <a:prstGeom prst="rect">
            <a:avLst/>
          </a:prstGeom>
        </p:spPr>
      </p:pic>
      <p:sp>
        <p:nvSpPr>
          <p:cNvPr id="38" name="Rectangle 38"/>
          <p:cNvSpPr/>
          <p:nvPr/>
        </p:nvSpPr>
        <p:spPr>
          <a:xfrm>
            <a:off x="1952625" y="6457950"/>
            <a:ext cx="8334375" cy="14288"/>
          </a:xfrm>
          <a:prstGeom prst="rect">
            <a:avLst/>
          </a:prstGeom>
          <a:solidFill>
            <a:srgbClr val="C12026"/>
          </a:solidFill>
          <a:ln>
            <a:noFill/>
          </a:ln>
        </p:spPr>
      </p:sp>
      <p:sp>
        <p:nvSpPr>
          <p:cNvPr id="39" name="Rectangle 39"/>
          <p:cNvSpPr/>
          <p:nvPr/>
        </p:nvSpPr>
        <p:spPr>
          <a:xfrm>
            <a:off x="10287000" y="6457950"/>
            <a:ext cx="1457325" cy="14288"/>
          </a:xfrm>
          <a:prstGeom prst="rect">
            <a:avLst/>
          </a:prstGeom>
          <a:solidFill>
            <a:srgbClr val="CCCCCC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11999071" y="6611302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微軟正黑體"/>
                <a:ea typeface="Microsoft JhengHei"/>
                <a:cs typeface="微軟正黑體"/>
              </a:rPr>
              <a:t>8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567606" y="6611302"/>
            <a:ext cx="11614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智  慧  好  夥  伴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33425" y="614362"/>
            <a:ext cx="5495687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1A1A1A"/>
                </a:solidFill>
                <a:latin typeface="微軟正黑體"/>
                <a:ea typeface="Microsoft JhengHei"/>
                <a:cs typeface="微軟正黑體"/>
              </a:rPr>
              <a:t>有效卡率比較 — 114年12月 Top 10 銀行</a:t>
            </a:r>
          </a:p>
        </p:txBody>
      </p:sp>
      <p:sp>
        <p:nvSpPr>
          <p:cNvPr id="4" name="Freeform 4"/>
          <p:cNvSpPr/>
          <p:nvPr/>
        </p:nvSpPr>
        <p:spPr>
          <a:xfrm>
            <a:off x="762000" y="1285875"/>
            <a:ext cx="10668000" cy="457200"/>
          </a:xfrm>
          <a:custGeom>
            <a:avLst/>
            <a:gdLst/>
            <a:ahLst/>
            <a:cxnLst/>
            <a:rect l="l" t="t" r="r" b="b"/>
            <a:pathLst>
              <a:path w="10668000" h="457200">
                <a:moveTo>
                  <a:pt x="57150" y="0"/>
                </a:moveTo>
                <a:lnTo>
                  <a:pt x="10610850" y="0"/>
                </a:lnTo>
                <a:cubicBezTo>
                  <a:pt x="10642413" y="0"/>
                  <a:pt x="10668000" y="25587"/>
                  <a:pt x="10668000" y="57150"/>
                </a:cubicBezTo>
                <a:lnTo>
                  <a:pt x="10668000" y="400050"/>
                </a:lnTo>
                <a:cubicBezTo>
                  <a:pt x="10668000" y="431613"/>
                  <a:pt x="10642413" y="457200"/>
                  <a:pt x="10610850" y="457200"/>
                </a:cubicBezTo>
                <a:lnTo>
                  <a:pt x="57150" y="457200"/>
                </a:lnTo>
                <a:cubicBezTo>
                  <a:pt x="25587" y="457200"/>
                  <a:pt x="0" y="431613"/>
                  <a:pt x="0" y="4000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5F5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37260" y="1442085"/>
            <a:ext cx="685773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C12026"/>
                </a:solidFill>
                <a:latin typeface="微軟正黑體"/>
                <a:ea typeface="Microsoft JhengHei"/>
                <a:cs typeface="微軟正黑體"/>
              </a:rPr>
              <a:t>◆ 台新有效卡率 73.2% 居 Top 5 水準，遠優於玉山 61.0%，顯示「重品質」策略成效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6760" y="1965960"/>
            <a:ext cx="266200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A1A1A"/>
                </a:solidFill>
                <a:latin typeface="微軟正黑體"/>
                <a:ea typeface="Microsoft JhengHei"/>
                <a:cs typeface="微軟正黑體"/>
              </a:rPr>
              <a:t>有效卡率 = 有效卡數 / 流通卡數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19100" y="2402681"/>
            <a:ext cx="3571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4D4D4D"/>
                </a:solidFill>
                <a:latin typeface="微軟正黑體"/>
                <a:ea typeface="Microsoft JhengHei"/>
                <a:cs typeface="微軟正黑體"/>
              </a:rPr>
              <a:t>中信</a:t>
            </a:r>
          </a:p>
        </p:txBody>
      </p:sp>
      <p:sp>
        <p:nvSpPr>
          <p:cNvPr id="8" name="Freeform 8"/>
          <p:cNvSpPr/>
          <p:nvPr/>
        </p:nvSpPr>
        <p:spPr>
          <a:xfrm>
            <a:off x="1047750" y="2362200"/>
            <a:ext cx="6858000" cy="266700"/>
          </a:xfrm>
          <a:custGeom>
            <a:avLst/>
            <a:gdLst/>
            <a:ahLst/>
            <a:cxnLst/>
            <a:rect l="l" t="t" r="r" b="b"/>
            <a:pathLst>
              <a:path w="6858000" h="266700">
                <a:moveTo>
                  <a:pt x="38100" y="0"/>
                </a:moveTo>
                <a:lnTo>
                  <a:pt x="6819900" y="0"/>
                </a:lnTo>
                <a:cubicBezTo>
                  <a:pt x="6840942" y="0"/>
                  <a:pt x="6858000" y="17058"/>
                  <a:pt x="6858000" y="38100"/>
                </a:cubicBezTo>
                <a:lnTo>
                  <a:pt x="6858000" y="228600"/>
                </a:lnTo>
                <a:cubicBezTo>
                  <a:pt x="6858000" y="249642"/>
                  <a:pt x="6840942" y="266700"/>
                  <a:pt x="6819900" y="266700"/>
                </a:cubicBezTo>
                <a:lnTo>
                  <a:pt x="38100" y="266700"/>
                </a:lnTo>
                <a:cubicBezTo>
                  <a:pt x="17058" y="266700"/>
                  <a:pt x="0" y="249642"/>
                  <a:pt x="0" y="2286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C12026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987665" y="2429828"/>
            <a:ext cx="4694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70.7%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19100" y="2783681"/>
            <a:ext cx="3571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4D4D4D"/>
                </a:solidFill>
                <a:latin typeface="微軟正黑體"/>
                <a:ea typeface="Microsoft JhengHei"/>
                <a:cs typeface="微軟正黑體"/>
              </a:rPr>
              <a:t>台新</a:t>
            </a:r>
          </a:p>
        </p:txBody>
      </p:sp>
      <p:sp>
        <p:nvSpPr>
          <p:cNvPr id="11" name="Freeform 11"/>
          <p:cNvSpPr/>
          <p:nvPr/>
        </p:nvSpPr>
        <p:spPr>
          <a:xfrm>
            <a:off x="1047750" y="2743200"/>
            <a:ext cx="7334250" cy="266700"/>
          </a:xfrm>
          <a:custGeom>
            <a:avLst/>
            <a:gdLst/>
            <a:ahLst/>
            <a:cxnLst/>
            <a:rect l="l" t="t" r="r" b="b"/>
            <a:pathLst>
              <a:path w="7334250" h="266700">
                <a:moveTo>
                  <a:pt x="38100" y="0"/>
                </a:moveTo>
                <a:lnTo>
                  <a:pt x="7296150" y="0"/>
                </a:lnTo>
                <a:cubicBezTo>
                  <a:pt x="7317192" y="0"/>
                  <a:pt x="7334250" y="17058"/>
                  <a:pt x="7334250" y="38100"/>
                </a:cubicBezTo>
                <a:lnTo>
                  <a:pt x="7334250" y="228600"/>
                </a:lnTo>
                <a:cubicBezTo>
                  <a:pt x="7334250" y="249642"/>
                  <a:pt x="7317192" y="266700"/>
                  <a:pt x="7296150" y="266700"/>
                </a:cubicBezTo>
                <a:lnTo>
                  <a:pt x="38100" y="266700"/>
                </a:lnTo>
                <a:cubicBezTo>
                  <a:pt x="17058" y="266700"/>
                  <a:pt x="0" y="249642"/>
                  <a:pt x="0" y="2286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D32F2F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463915" y="2810828"/>
            <a:ext cx="4694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73.2%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19100" y="3164681"/>
            <a:ext cx="3571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4D4D4D"/>
                </a:solidFill>
                <a:latin typeface="微軟正黑體"/>
                <a:ea typeface="Microsoft JhengHei"/>
                <a:cs typeface="微軟正黑體"/>
              </a:rPr>
              <a:t>國泰</a:t>
            </a:r>
          </a:p>
        </p:txBody>
      </p:sp>
      <p:sp>
        <p:nvSpPr>
          <p:cNvPr id="14" name="Freeform 14"/>
          <p:cNvSpPr/>
          <p:nvPr/>
        </p:nvSpPr>
        <p:spPr>
          <a:xfrm>
            <a:off x="1047750" y="3124200"/>
            <a:ext cx="6762750" cy="266700"/>
          </a:xfrm>
          <a:custGeom>
            <a:avLst/>
            <a:gdLst/>
            <a:ahLst/>
            <a:cxnLst/>
            <a:rect l="l" t="t" r="r" b="b"/>
            <a:pathLst>
              <a:path w="6762750" h="266700">
                <a:moveTo>
                  <a:pt x="38100" y="0"/>
                </a:moveTo>
                <a:lnTo>
                  <a:pt x="6724650" y="0"/>
                </a:lnTo>
                <a:cubicBezTo>
                  <a:pt x="6745692" y="0"/>
                  <a:pt x="6762750" y="17058"/>
                  <a:pt x="6762750" y="38100"/>
                </a:cubicBezTo>
                <a:lnTo>
                  <a:pt x="6762750" y="228600"/>
                </a:lnTo>
                <a:cubicBezTo>
                  <a:pt x="6762750" y="249642"/>
                  <a:pt x="6745692" y="266700"/>
                  <a:pt x="6724650" y="266700"/>
                </a:cubicBezTo>
                <a:lnTo>
                  <a:pt x="38100" y="266700"/>
                </a:lnTo>
                <a:cubicBezTo>
                  <a:pt x="17058" y="266700"/>
                  <a:pt x="0" y="249642"/>
                  <a:pt x="0" y="2286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53935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892415" y="3191828"/>
            <a:ext cx="4292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71.0%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0488" y="3545681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4D4D4D"/>
                </a:solidFill>
                <a:latin typeface="微軟正黑體"/>
                <a:ea typeface="Microsoft JhengHei"/>
                <a:cs typeface="微軟正黑體"/>
              </a:rPr>
              <a:t>台北富邦</a:t>
            </a:r>
          </a:p>
        </p:txBody>
      </p:sp>
      <p:sp>
        <p:nvSpPr>
          <p:cNvPr id="17" name="Freeform 17"/>
          <p:cNvSpPr/>
          <p:nvPr/>
        </p:nvSpPr>
        <p:spPr>
          <a:xfrm>
            <a:off x="1047750" y="3505200"/>
            <a:ext cx="7486650" cy="266700"/>
          </a:xfrm>
          <a:custGeom>
            <a:avLst/>
            <a:gdLst/>
            <a:ahLst/>
            <a:cxnLst/>
            <a:rect l="l" t="t" r="r" b="b"/>
            <a:pathLst>
              <a:path w="7486650" h="266700">
                <a:moveTo>
                  <a:pt x="38100" y="0"/>
                </a:moveTo>
                <a:lnTo>
                  <a:pt x="7448550" y="0"/>
                </a:lnTo>
                <a:cubicBezTo>
                  <a:pt x="7469592" y="0"/>
                  <a:pt x="7486650" y="17058"/>
                  <a:pt x="7486650" y="38100"/>
                </a:cubicBezTo>
                <a:lnTo>
                  <a:pt x="7486650" y="228600"/>
                </a:lnTo>
                <a:cubicBezTo>
                  <a:pt x="7486650" y="249642"/>
                  <a:pt x="7469592" y="266700"/>
                  <a:pt x="7448550" y="266700"/>
                </a:cubicBezTo>
                <a:lnTo>
                  <a:pt x="38100" y="266700"/>
                </a:lnTo>
                <a:cubicBezTo>
                  <a:pt x="17058" y="266700"/>
                  <a:pt x="0" y="249642"/>
                  <a:pt x="0" y="2286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F535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616315" y="3572828"/>
            <a:ext cx="4292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79.1%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19100" y="3926681"/>
            <a:ext cx="3571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4D4D4D"/>
                </a:solidFill>
                <a:latin typeface="微軟正黑體"/>
                <a:ea typeface="Microsoft JhengHei"/>
                <a:cs typeface="微軟正黑體"/>
              </a:rPr>
              <a:t>聯邦</a:t>
            </a:r>
          </a:p>
        </p:txBody>
      </p:sp>
      <p:sp>
        <p:nvSpPr>
          <p:cNvPr id="20" name="Freeform 20"/>
          <p:cNvSpPr/>
          <p:nvPr/>
        </p:nvSpPr>
        <p:spPr>
          <a:xfrm>
            <a:off x="1047750" y="3886200"/>
            <a:ext cx="7105650" cy="266700"/>
          </a:xfrm>
          <a:custGeom>
            <a:avLst/>
            <a:gdLst/>
            <a:ahLst/>
            <a:cxnLst/>
            <a:rect l="l" t="t" r="r" b="b"/>
            <a:pathLst>
              <a:path w="7105650" h="266700">
                <a:moveTo>
                  <a:pt x="38100" y="0"/>
                </a:moveTo>
                <a:lnTo>
                  <a:pt x="7067550" y="0"/>
                </a:lnTo>
                <a:cubicBezTo>
                  <a:pt x="7088592" y="0"/>
                  <a:pt x="7105650" y="17058"/>
                  <a:pt x="7105650" y="38100"/>
                </a:cubicBezTo>
                <a:lnTo>
                  <a:pt x="7105650" y="228600"/>
                </a:lnTo>
                <a:cubicBezTo>
                  <a:pt x="7105650" y="249642"/>
                  <a:pt x="7088592" y="266700"/>
                  <a:pt x="7067550" y="266700"/>
                </a:cubicBezTo>
                <a:lnTo>
                  <a:pt x="38100" y="266700"/>
                </a:lnTo>
                <a:cubicBezTo>
                  <a:pt x="17058" y="266700"/>
                  <a:pt x="0" y="249642"/>
                  <a:pt x="0" y="2286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57373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235315" y="3953828"/>
            <a:ext cx="4694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67.7%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19100" y="4307681"/>
            <a:ext cx="3571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4D4D4D"/>
                </a:solidFill>
                <a:latin typeface="微軟正黑體"/>
                <a:ea typeface="Microsoft JhengHei"/>
                <a:cs typeface="微軟正黑體"/>
              </a:rPr>
              <a:t>永豐</a:t>
            </a:r>
          </a:p>
        </p:txBody>
      </p:sp>
      <p:sp>
        <p:nvSpPr>
          <p:cNvPr id="23" name="Freeform 23"/>
          <p:cNvSpPr/>
          <p:nvPr/>
        </p:nvSpPr>
        <p:spPr>
          <a:xfrm>
            <a:off x="1047750" y="4267200"/>
            <a:ext cx="7143750" cy="266700"/>
          </a:xfrm>
          <a:custGeom>
            <a:avLst/>
            <a:gdLst/>
            <a:ahLst/>
            <a:cxnLst/>
            <a:rect l="l" t="t" r="r" b="b"/>
            <a:pathLst>
              <a:path w="7143750" h="266700">
                <a:moveTo>
                  <a:pt x="38100" y="0"/>
                </a:moveTo>
                <a:lnTo>
                  <a:pt x="7105650" y="0"/>
                </a:lnTo>
                <a:cubicBezTo>
                  <a:pt x="7126692" y="0"/>
                  <a:pt x="7143750" y="17058"/>
                  <a:pt x="7143750" y="38100"/>
                </a:cubicBezTo>
                <a:lnTo>
                  <a:pt x="7143750" y="228600"/>
                </a:lnTo>
                <a:cubicBezTo>
                  <a:pt x="7143750" y="249642"/>
                  <a:pt x="7126692" y="266700"/>
                  <a:pt x="7105650" y="266700"/>
                </a:cubicBezTo>
                <a:lnTo>
                  <a:pt x="38100" y="266700"/>
                </a:lnTo>
                <a:cubicBezTo>
                  <a:pt x="17058" y="266700"/>
                  <a:pt x="0" y="249642"/>
                  <a:pt x="0" y="2286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F9A9A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273415" y="4334828"/>
            <a:ext cx="4694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62.4%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19100" y="4688681"/>
            <a:ext cx="3571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4D4D4D"/>
                </a:solidFill>
                <a:latin typeface="微軟正黑體"/>
                <a:ea typeface="Microsoft JhengHei"/>
                <a:cs typeface="微軟正黑體"/>
              </a:rPr>
              <a:t>星展</a:t>
            </a:r>
          </a:p>
        </p:txBody>
      </p:sp>
      <p:sp>
        <p:nvSpPr>
          <p:cNvPr id="26" name="Freeform 26"/>
          <p:cNvSpPr/>
          <p:nvPr/>
        </p:nvSpPr>
        <p:spPr>
          <a:xfrm>
            <a:off x="1047750" y="4648200"/>
            <a:ext cx="5981700" cy="266700"/>
          </a:xfrm>
          <a:custGeom>
            <a:avLst/>
            <a:gdLst/>
            <a:ahLst/>
            <a:cxnLst/>
            <a:rect l="l" t="t" r="r" b="b"/>
            <a:pathLst>
              <a:path w="5981700" h="266700">
                <a:moveTo>
                  <a:pt x="38100" y="0"/>
                </a:moveTo>
                <a:lnTo>
                  <a:pt x="5943600" y="0"/>
                </a:lnTo>
                <a:cubicBezTo>
                  <a:pt x="5964642" y="0"/>
                  <a:pt x="5981700" y="17058"/>
                  <a:pt x="5981700" y="38100"/>
                </a:cubicBezTo>
                <a:lnTo>
                  <a:pt x="5981700" y="228600"/>
                </a:lnTo>
                <a:cubicBezTo>
                  <a:pt x="5981700" y="249642"/>
                  <a:pt x="5964642" y="266700"/>
                  <a:pt x="5943600" y="266700"/>
                </a:cubicBezTo>
                <a:lnTo>
                  <a:pt x="38100" y="266700"/>
                </a:lnTo>
                <a:cubicBezTo>
                  <a:pt x="17058" y="266700"/>
                  <a:pt x="0" y="249642"/>
                  <a:pt x="0" y="2286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CDD2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111365" y="4715828"/>
            <a:ext cx="4694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62.8%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19100" y="5069681"/>
            <a:ext cx="3571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dirty="0">
                <a:solidFill>
                  <a:srgbClr val="4D4D4D"/>
                </a:solidFill>
                <a:latin typeface="微軟正黑體"/>
                <a:ea typeface="Microsoft JhengHei"/>
                <a:cs typeface="微軟正黑體"/>
              </a:rPr>
              <a:t>玉山</a:t>
            </a:r>
          </a:p>
        </p:txBody>
      </p:sp>
      <p:sp>
        <p:nvSpPr>
          <p:cNvPr id="29" name="Freeform 29"/>
          <p:cNvSpPr/>
          <p:nvPr/>
        </p:nvSpPr>
        <p:spPr>
          <a:xfrm>
            <a:off x="1047750" y="5029200"/>
            <a:ext cx="5810250" cy="266700"/>
          </a:xfrm>
          <a:custGeom>
            <a:avLst/>
            <a:gdLst/>
            <a:ahLst/>
            <a:cxnLst/>
            <a:rect l="l" t="t" r="r" b="b"/>
            <a:pathLst>
              <a:path w="5810250" h="266700">
                <a:moveTo>
                  <a:pt x="38100" y="0"/>
                </a:moveTo>
                <a:lnTo>
                  <a:pt x="5772150" y="0"/>
                </a:lnTo>
                <a:cubicBezTo>
                  <a:pt x="5793192" y="0"/>
                  <a:pt x="5810250" y="17058"/>
                  <a:pt x="5810250" y="38100"/>
                </a:cubicBezTo>
                <a:lnTo>
                  <a:pt x="5810250" y="228600"/>
                </a:lnTo>
                <a:cubicBezTo>
                  <a:pt x="5810250" y="249642"/>
                  <a:pt x="5793192" y="266700"/>
                  <a:pt x="5772150" y="266700"/>
                </a:cubicBezTo>
                <a:lnTo>
                  <a:pt x="38100" y="266700"/>
                </a:lnTo>
                <a:cubicBezTo>
                  <a:pt x="17058" y="266700"/>
                  <a:pt x="0" y="249642"/>
                  <a:pt x="0" y="2286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CDD2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939915" y="5096828"/>
            <a:ext cx="4292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61.0%</a:t>
            </a:r>
          </a:p>
        </p:txBody>
      </p:sp>
      <p:sp>
        <p:nvSpPr>
          <p:cNvPr id="31" name="Freeform 31"/>
          <p:cNvSpPr/>
          <p:nvPr/>
        </p:nvSpPr>
        <p:spPr>
          <a:xfrm>
            <a:off x="762000" y="5429250"/>
            <a:ext cx="10668000" cy="762000"/>
          </a:xfrm>
          <a:custGeom>
            <a:avLst/>
            <a:gdLst/>
            <a:ahLst/>
            <a:cxnLst/>
            <a:rect l="l" t="t" r="r" b="b"/>
            <a:pathLst>
              <a:path w="10668000" h="762000">
                <a:moveTo>
                  <a:pt x="76200" y="0"/>
                </a:moveTo>
                <a:lnTo>
                  <a:pt x="10591800" y="0"/>
                </a:lnTo>
                <a:cubicBezTo>
                  <a:pt x="10633884" y="0"/>
                  <a:pt x="10668000" y="34116"/>
                  <a:pt x="10668000" y="76200"/>
                </a:cubicBezTo>
                <a:lnTo>
                  <a:pt x="10668000" y="685800"/>
                </a:lnTo>
                <a:cubicBezTo>
                  <a:pt x="10668000" y="727884"/>
                  <a:pt x="10633884" y="762000"/>
                  <a:pt x="1059180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5F5"/>
          </a:solidFill>
          <a:ln w="9525">
            <a:solidFill>
              <a:srgbClr val="E0E0E0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938212" y="5574506"/>
            <a:ext cx="86530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C12026"/>
                </a:solidFill>
                <a:latin typeface="微軟正黑體"/>
                <a:ea typeface="Microsoft JhengHei"/>
                <a:cs typeface="微軟正黑體"/>
              </a:rPr>
              <a:t>◆ 策略洞察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39165" y="5811202"/>
            <a:ext cx="49492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D4D4D"/>
                </a:solidFill>
                <a:latin typeface="微軟正黑體"/>
                <a:ea typeface="Microsoft JhengHei"/>
                <a:cs typeface="微軟正黑體"/>
              </a:rPr>
              <a:t>台北富邦以 79.1% 有效卡率居冠，反映其數位體驗與客戶經營策略成功。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701665" y="5811202"/>
            <a:ext cx="49722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D4D4D"/>
                </a:solidFill>
                <a:latin typeface="微軟正黑體"/>
                <a:ea typeface="Microsoft JhengHei"/>
                <a:cs typeface="微軟正黑體"/>
              </a:rPr>
              <a:t>玉山流通卡數最大但有效卡率墊底，沉沒卡數約 340 萬張，機會成本高。</a:t>
            </a:r>
          </a:p>
        </p:txBody>
      </p:sp>
      <p:pic>
        <p:nvPicPr>
          <p:cNvPr id="35" name="Image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228" y="6229350"/>
            <a:ext cx="1576864" cy="600075"/>
          </a:xfrm>
          <a:prstGeom prst="rect">
            <a:avLst/>
          </a:prstGeom>
        </p:spPr>
      </p:pic>
      <p:sp>
        <p:nvSpPr>
          <p:cNvPr id="36" name="Rectangle 36"/>
          <p:cNvSpPr/>
          <p:nvPr/>
        </p:nvSpPr>
        <p:spPr>
          <a:xfrm>
            <a:off x="1952625" y="6457950"/>
            <a:ext cx="8334375" cy="14288"/>
          </a:xfrm>
          <a:prstGeom prst="rect">
            <a:avLst/>
          </a:prstGeom>
          <a:solidFill>
            <a:srgbClr val="C12026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10287000" y="6457950"/>
            <a:ext cx="1457325" cy="14288"/>
          </a:xfrm>
          <a:prstGeom prst="rect">
            <a:avLst/>
          </a:prstGeom>
          <a:solidFill>
            <a:srgbClr val="CCCCCC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11999071" y="6611302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微軟正黑體"/>
                <a:ea typeface="Microsoft JhengHei"/>
                <a:cs typeface="微軟正黑體"/>
              </a:rPr>
              <a:t>9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567606" y="6611302"/>
            <a:ext cx="11614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智  慧  好  夥  伴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5442466" y="2584132"/>
            <a:ext cx="13070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C12026"/>
                </a:solidFill>
                <a:latin typeface="微軟正黑體"/>
                <a:ea typeface="Microsoft JhengHei"/>
                <a:cs typeface="微軟正黑體"/>
              </a:rPr>
              <a:t>CHAPTER 03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289935" y="2849880"/>
            <a:ext cx="5612130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4D4D4D"/>
                </a:solidFill>
                <a:latin typeface="微軟正黑體"/>
                <a:ea typeface="Microsoft JhengHei"/>
                <a:cs typeface="微軟正黑體"/>
              </a:rPr>
              <a:t>客戶活躍度與獲利能力</a:t>
            </a:r>
          </a:p>
        </p:txBody>
      </p:sp>
      <p:sp>
        <p:nvSpPr>
          <p:cNvPr id="5" name="Rectangle 5"/>
          <p:cNvSpPr/>
          <p:nvPr/>
        </p:nvSpPr>
        <p:spPr>
          <a:xfrm>
            <a:off x="5143500" y="3810000"/>
            <a:ext cx="1905000" cy="28575"/>
          </a:xfrm>
          <a:prstGeom prst="rect">
            <a:avLst/>
          </a:prstGeom>
          <a:solidFill>
            <a:srgbClr val="C12026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1953065" y="6611302"/>
            <a:ext cx="1570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微軟正黑體"/>
                <a:ea typeface="Microsoft JhengHei"/>
                <a:cs typeface="微軟正黑體"/>
              </a:rPr>
              <a:t>10</a:t>
            </a:r>
          </a:p>
        </p:txBody>
      </p:sp>
      <p:pic>
        <p:nvPicPr>
          <p:cNvPr id="7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6874" y="5695950"/>
            <a:ext cx="2778252" cy="105727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33425" y="614362"/>
            <a:ext cx="6202204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1A1A1A"/>
                </a:solidFill>
                <a:latin typeface="微軟正黑體"/>
                <a:ea typeface="Microsoft JhengHei"/>
                <a:cs typeface="微軟正黑體"/>
              </a:rPr>
              <a:t>每卡簽帳金額排名 — 114年12月（百元/卡）</a:t>
            </a:r>
          </a:p>
        </p:txBody>
      </p:sp>
      <p:sp>
        <p:nvSpPr>
          <p:cNvPr id="4" name="Freeform 4"/>
          <p:cNvSpPr/>
          <p:nvPr/>
        </p:nvSpPr>
        <p:spPr>
          <a:xfrm>
            <a:off x="762000" y="1285875"/>
            <a:ext cx="10668000" cy="457200"/>
          </a:xfrm>
          <a:custGeom>
            <a:avLst/>
            <a:gdLst/>
            <a:ahLst/>
            <a:cxnLst/>
            <a:rect l="l" t="t" r="r" b="b"/>
            <a:pathLst>
              <a:path w="10668000" h="457200">
                <a:moveTo>
                  <a:pt x="57150" y="0"/>
                </a:moveTo>
                <a:lnTo>
                  <a:pt x="10610850" y="0"/>
                </a:lnTo>
                <a:cubicBezTo>
                  <a:pt x="10642413" y="0"/>
                  <a:pt x="10668000" y="25587"/>
                  <a:pt x="10668000" y="57150"/>
                </a:cubicBezTo>
                <a:lnTo>
                  <a:pt x="10668000" y="400050"/>
                </a:lnTo>
                <a:cubicBezTo>
                  <a:pt x="10668000" y="431613"/>
                  <a:pt x="10642413" y="457200"/>
                  <a:pt x="10610850" y="457200"/>
                </a:cubicBezTo>
                <a:lnTo>
                  <a:pt x="57150" y="457200"/>
                </a:lnTo>
                <a:cubicBezTo>
                  <a:pt x="25587" y="457200"/>
                  <a:pt x="0" y="431613"/>
                  <a:pt x="0" y="4000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5F5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37260" y="1442085"/>
            <a:ext cx="632406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C12026"/>
                </a:solidFill>
                <a:latin typeface="微軟正黑體"/>
                <a:ea typeface="Microsoft JhengHei"/>
                <a:cs typeface="微軟正黑體"/>
              </a:rPr>
              <a:t>◆ 台新每卡簽帳 999 百元，為 Top 5 中唯一超越國泰的中型銀行，消費力強勁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524000" y="2095500"/>
            <a:ext cx="9525000" cy="3438525"/>
            <a:chOff x="1524000" y="2095500"/>
            <a:chExt cx="9525000" cy="3438525"/>
          </a:xfrm>
        </p:grpSpPr>
        <p:sp>
          <p:nvSpPr>
            <p:cNvPr id="6" name="Line 6"/>
            <p:cNvSpPr/>
            <p:nvPr/>
          </p:nvSpPr>
          <p:spPr>
            <a:xfrm>
              <a:off x="1524000" y="2095500"/>
              <a:ext cx="9525000" cy="9525"/>
            </a:xfrm>
            <a:custGeom>
              <a:avLst/>
              <a:gdLst/>
              <a:ahLst/>
              <a:cxnLst/>
              <a:rect l="l" t="t" r="r" b="b"/>
              <a:pathLst>
                <a:path w="9525000" h="9525">
                  <a:moveTo>
                    <a:pt x="0" y="0"/>
                  </a:moveTo>
                  <a:lnTo>
                    <a:pt x="9525000" y="0"/>
                  </a:lnTo>
                </a:path>
              </a:pathLst>
            </a:custGeom>
            <a:noFill/>
            <a:ln w="9525">
              <a:solidFill>
                <a:srgbClr val="F0F0F0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1524000" y="2952750"/>
              <a:ext cx="9525000" cy="9525"/>
            </a:xfrm>
            <a:custGeom>
              <a:avLst/>
              <a:gdLst/>
              <a:ahLst/>
              <a:cxnLst/>
              <a:rect l="l" t="t" r="r" b="b"/>
              <a:pathLst>
                <a:path w="9525000" h="9525">
                  <a:moveTo>
                    <a:pt x="0" y="0"/>
                  </a:moveTo>
                  <a:lnTo>
                    <a:pt x="9525000" y="0"/>
                  </a:lnTo>
                </a:path>
              </a:pathLst>
            </a:custGeom>
            <a:noFill/>
            <a:ln w="9525">
              <a:solidFill>
                <a:srgbClr val="F0F0F0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524000" y="3810000"/>
              <a:ext cx="9525000" cy="9525"/>
            </a:xfrm>
            <a:custGeom>
              <a:avLst/>
              <a:gdLst/>
              <a:ahLst/>
              <a:cxnLst/>
              <a:rect l="l" t="t" r="r" b="b"/>
              <a:pathLst>
                <a:path w="9525000" h="9525">
                  <a:moveTo>
                    <a:pt x="0" y="0"/>
                  </a:moveTo>
                  <a:lnTo>
                    <a:pt x="9525000" y="0"/>
                  </a:lnTo>
                </a:path>
              </a:pathLst>
            </a:custGeom>
            <a:noFill/>
            <a:ln w="9525">
              <a:solidFill>
                <a:srgbClr val="F0F0F0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524000" y="4667250"/>
              <a:ext cx="9525000" cy="9525"/>
            </a:xfrm>
            <a:custGeom>
              <a:avLst/>
              <a:gdLst/>
              <a:ahLst/>
              <a:cxnLst/>
              <a:rect l="l" t="t" r="r" b="b"/>
              <a:pathLst>
                <a:path w="9525000" h="9525">
                  <a:moveTo>
                    <a:pt x="0" y="0"/>
                  </a:moveTo>
                  <a:lnTo>
                    <a:pt x="9525000" y="0"/>
                  </a:lnTo>
                </a:path>
              </a:pathLst>
            </a:custGeom>
            <a:noFill/>
            <a:ln w="9525">
              <a:solidFill>
                <a:srgbClr val="F0F0F0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524000" y="5524500"/>
              <a:ext cx="9525000" cy="9525"/>
            </a:xfrm>
            <a:custGeom>
              <a:avLst/>
              <a:gdLst/>
              <a:ahLst/>
              <a:cxnLst/>
              <a:rect l="l" t="t" r="r" b="b"/>
              <a:pathLst>
                <a:path w="9525000" h="9525">
                  <a:moveTo>
                    <a:pt x="0" y="0"/>
                  </a:moveTo>
                  <a:lnTo>
                    <a:pt x="9525000" y="0"/>
                  </a:lnTo>
                </a:path>
              </a:pathLst>
            </a:custGeom>
            <a:noFill/>
            <a:ln w="9525">
              <a:solidFill>
                <a:srgbClr val="F0F0F0"/>
              </a:solidFill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1088708" y="2036445"/>
            <a:ext cx="3514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1,600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88708" y="2893695"/>
            <a:ext cx="3514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1,300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88708" y="3750945"/>
            <a:ext cx="3514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1,000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00436" y="4608195"/>
            <a:ext cx="23974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700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00436" y="5465445"/>
            <a:ext cx="23974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400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1905000" y="2045970"/>
            <a:ext cx="6838950" cy="3742849"/>
            <a:chOff x="1905000" y="2045970"/>
            <a:chExt cx="6838950" cy="3742849"/>
          </a:xfrm>
        </p:grpSpPr>
        <p:sp>
          <p:nvSpPr>
            <p:cNvPr id="17" name="Freeform 17"/>
            <p:cNvSpPr/>
            <p:nvPr/>
          </p:nvSpPr>
          <p:spPr>
            <a:xfrm>
              <a:off x="1905000" y="2228850"/>
              <a:ext cx="495300" cy="3295650"/>
            </a:xfrm>
            <a:custGeom>
              <a:avLst/>
              <a:gdLst/>
              <a:ahLst/>
              <a:cxnLst/>
              <a:rect l="l" t="t" r="r" b="b"/>
              <a:pathLst>
                <a:path w="495300" h="3295650">
                  <a:moveTo>
                    <a:pt x="28575" y="0"/>
                  </a:moveTo>
                  <a:lnTo>
                    <a:pt x="466725" y="0"/>
                  </a:lnTo>
                  <a:cubicBezTo>
                    <a:pt x="482507" y="0"/>
                    <a:pt x="495300" y="12793"/>
                    <a:pt x="495300" y="28575"/>
                  </a:cubicBezTo>
                  <a:lnTo>
                    <a:pt x="495300" y="3267075"/>
                  </a:lnTo>
                  <a:cubicBezTo>
                    <a:pt x="495300" y="3282857"/>
                    <a:pt x="482507" y="3295650"/>
                    <a:pt x="466725" y="3295650"/>
                  </a:cubicBezTo>
                  <a:lnTo>
                    <a:pt x="28575" y="3295650"/>
                  </a:lnTo>
                  <a:cubicBezTo>
                    <a:pt x="12793" y="3295650"/>
                    <a:pt x="0" y="3282857"/>
                    <a:pt x="0" y="32670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E5737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968698" y="2045970"/>
              <a:ext cx="3679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1,572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97869" y="5590699"/>
              <a:ext cx="309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4D4D4D"/>
                  </a:solidFill>
                  <a:latin typeface="微軟正黑體"/>
                  <a:ea typeface="Microsoft YaHei"/>
                  <a:cs typeface="微軟正黑體"/>
                </a:rPr>
                <a:t>國泰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2609850" y="2847975"/>
              <a:ext cx="495300" cy="2676525"/>
            </a:xfrm>
            <a:custGeom>
              <a:avLst/>
              <a:gdLst/>
              <a:ahLst/>
              <a:cxnLst/>
              <a:rect l="l" t="t" r="r" b="b"/>
              <a:pathLst>
                <a:path w="495300" h="2676525">
                  <a:moveTo>
                    <a:pt x="28575" y="0"/>
                  </a:moveTo>
                  <a:lnTo>
                    <a:pt x="466725" y="0"/>
                  </a:lnTo>
                  <a:cubicBezTo>
                    <a:pt x="482507" y="0"/>
                    <a:pt x="495300" y="12793"/>
                    <a:pt x="495300" y="28575"/>
                  </a:cubicBezTo>
                  <a:lnTo>
                    <a:pt x="495300" y="2647950"/>
                  </a:lnTo>
                  <a:cubicBezTo>
                    <a:pt x="495300" y="2663732"/>
                    <a:pt x="482507" y="2676525"/>
                    <a:pt x="466725" y="2676525"/>
                  </a:cubicBezTo>
                  <a:lnTo>
                    <a:pt x="28575" y="2676525"/>
                  </a:lnTo>
                  <a:cubicBezTo>
                    <a:pt x="12793" y="2676525"/>
                    <a:pt x="0" y="2663732"/>
                    <a:pt x="0" y="2647950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E5737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673548" y="2665095"/>
              <a:ext cx="3679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1,254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702719" y="5590699"/>
              <a:ext cx="309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4D4D4D"/>
                  </a:solidFill>
                  <a:latin typeface="微軟正黑體"/>
                  <a:ea typeface="Microsoft YaHei"/>
                  <a:cs typeface="微軟正黑體"/>
                </a:rPr>
                <a:t>中信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3314700" y="3057525"/>
              <a:ext cx="495300" cy="2466975"/>
            </a:xfrm>
            <a:custGeom>
              <a:avLst/>
              <a:gdLst/>
              <a:ahLst/>
              <a:cxnLst/>
              <a:rect l="l" t="t" r="r" b="b"/>
              <a:pathLst>
                <a:path w="495300" h="2466975">
                  <a:moveTo>
                    <a:pt x="28575" y="0"/>
                  </a:moveTo>
                  <a:lnTo>
                    <a:pt x="466725" y="0"/>
                  </a:lnTo>
                  <a:cubicBezTo>
                    <a:pt x="482507" y="0"/>
                    <a:pt x="495300" y="12793"/>
                    <a:pt x="495300" y="28575"/>
                  </a:cubicBezTo>
                  <a:lnTo>
                    <a:pt x="495300" y="2438400"/>
                  </a:lnTo>
                  <a:cubicBezTo>
                    <a:pt x="495300" y="2454182"/>
                    <a:pt x="482507" y="2466975"/>
                    <a:pt x="466725" y="2466975"/>
                  </a:cubicBezTo>
                  <a:lnTo>
                    <a:pt x="28575" y="2466975"/>
                  </a:lnTo>
                  <a:cubicBezTo>
                    <a:pt x="12793" y="2466975"/>
                    <a:pt x="0" y="2454182"/>
                    <a:pt x="0" y="2438400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E5737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395651" y="2874645"/>
              <a:ext cx="33339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1,149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407569" y="5590699"/>
              <a:ext cx="309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4D4D4D"/>
                  </a:solidFill>
                  <a:latin typeface="微軟正黑體"/>
                  <a:ea typeface="Microsoft YaHei"/>
                  <a:cs typeface="微軟正黑體"/>
                </a:rPr>
                <a:t>星展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4019550" y="3324225"/>
              <a:ext cx="495300" cy="2200275"/>
            </a:xfrm>
            <a:custGeom>
              <a:avLst/>
              <a:gdLst/>
              <a:ahLst/>
              <a:cxnLst/>
              <a:rect l="l" t="t" r="r" b="b"/>
              <a:pathLst>
                <a:path w="495300" h="2200275">
                  <a:moveTo>
                    <a:pt x="28575" y="0"/>
                  </a:moveTo>
                  <a:lnTo>
                    <a:pt x="466725" y="0"/>
                  </a:lnTo>
                  <a:cubicBezTo>
                    <a:pt x="482507" y="0"/>
                    <a:pt x="495300" y="12793"/>
                    <a:pt x="495300" y="28575"/>
                  </a:cubicBezTo>
                  <a:lnTo>
                    <a:pt x="495300" y="2171700"/>
                  </a:lnTo>
                  <a:cubicBezTo>
                    <a:pt x="495300" y="2187482"/>
                    <a:pt x="482507" y="2200275"/>
                    <a:pt x="466725" y="2200275"/>
                  </a:cubicBezTo>
                  <a:lnTo>
                    <a:pt x="28575" y="2200275"/>
                  </a:lnTo>
                  <a:cubicBezTo>
                    <a:pt x="12793" y="2200275"/>
                    <a:pt x="0" y="2187482"/>
                    <a:pt x="0" y="2171700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E5737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083248" y="3141345"/>
              <a:ext cx="3679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1,025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112419" y="5590699"/>
              <a:ext cx="309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4D4D4D"/>
                  </a:solidFill>
                  <a:latin typeface="微軟正黑體"/>
                  <a:ea typeface="Microsoft YaHei"/>
                  <a:cs typeface="微軟正黑體"/>
                </a:rPr>
                <a:t>永豐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4724400" y="3343275"/>
              <a:ext cx="495300" cy="2181225"/>
            </a:xfrm>
            <a:custGeom>
              <a:avLst/>
              <a:gdLst/>
              <a:ahLst/>
              <a:cxnLst/>
              <a:rect l="l" t="t" r="r" b="b"/>
              <a:pathLst>
                <a:path w="495300" h="2181225">
                  <a:moveTo>
                    <a:pt x="28575" y="0"/>
                  </a:moveTo>
                  <a:lnTo>
                    <a:pt x="466725" y="0"/>
                  </a:lnTo>
                  <a:cubicBezTo>
                    <a:pt x="482507" y="0"/>
                    <a:pt x="495300" y="12793"/>
                    <a:pt x="495300" y="28575"/>
                  </a:cubicBezTo>
                  <a:lnTo>
                    <a:pt x="495300" y="2152650"/>
                  </a:lnTo>
                  <a:cubicBezTo>
                    <a:pt x="495300" y="2168432"/>
                    <a:pt x="482507" y="2181225"/>
                    <a:pt x="466725" y="2181225"/>
                  </a:cubicBezTo>
                  <a:lnTo>
                    <a:pt x="28575" y="2181225"/>
                  </a:lnTo>
                  <a:cubicBezTo>
                    <a:pt x="12793" y="2181225"/>
                    <a:pt x="0" y="2168432"/>
                    <a:pt x="0" y="2152650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E5737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805351" y="3160395"/>
              <a:ext cx="33339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1,016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817269" y="5590699"/>
              <a:ext cx="309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4D4D4D"/>
                  </a:solidFill>
                  <a:latin typeface="微軟正黑體"/>
                  <a:ea typeface="Microsoft YaHei"/>
                  <a:cs typeface="微軟正黑體"/>
                </a:rPr>
                <a:t>玉山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5429250" y="3371850"/>
              <a:ext cx="495300" cy="2152650"/>
            </a:xfrm>
            <a:custGeom>
              <a:avLst/>
              <a:gdLst/>
              <a:ahLst/>
              <a:cxnLst/>
              <a:rect l="l" t="t" r="r" b="b"/>
              <a:pathLst>
                <a:path w="495300" h="2152650">
                  <a:moveTo>
                    <a:pt x="28575" y="0"/>
                  </a:moveTo>
                  <a:lnTo>
                    <a:pt x="466725" y="0"/>
                  </a:lnTo>
                  <a:cubicBezTo>
                    <a:pt x="482507" y="0"/>
                    <a:pt x="495300" y="12793"/>
                    <a:pt x="495300" y="28575"/>
                  </a:cubicBezTo>
                  <a:lnTo>
                    <a:pt x="495300" y="2124075"/>
                  </a:lnTo>
                  <a:cubicBezTo>
                    <a:pt x="495300" y="2139857"/>
                    <a:pt x="482507" y="2152650"/>
                    <a:pt x="466725" y="2152650"/>
                  </a:cubicBezTo>
                  <a:lnTo>
                    <a:pt x="28575" y="2152650"/>
                  </a:lnTo>
                  <a:cubicBezTo>
                    <a:pt x="12793" y="2152650"/>
                    <a:pt x="0" y="2139857"/>
                    <a:pt x="0" y="21240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E5737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492948" y="3188970"/>
              <a:ext cx="3679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1,006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522119" y="5590699"/>
              <a:ext cx="309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4D4D4D"/>
                  </a:solidFill>
                  <a:latin typeface="微軟正黑體"/>
                  <a:ea typeface="Microsoft YaHei"/>
                  <a:cs typeface="微軟正黑體"/>
                </a:rPr>
                <a:t>北富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6134100" y="3381375"/>
              <a:ext cx="495300" cy="2143125"/>
            </a:xfrm>
            <a:custGeom>
              <a:avLst/>
              <a:gdLst/>
              <a:ahLst/>
              <a:cxnLst/>
              <a:rect l="l" t="t" r="r" b="b"/>
              <a:pathLst>
                <a:path w="495300" h="2143125">
                  <a:moveTo>
                    <a:pt x="28575" y="0"/>
                  </a:moveTo>
                  <a:lnTo>
                    <a:pt x="466725" y="0"/>
                  </a:lnTo>
                  <a:cubicBezTo>
                    <a:pt x="482507" y="0"/>
                    <a:pt x="495300" y="12793"/>
                    <a:pt x="495300" y="28575"/>
                  </a:cubicBezTo>
                  <a:lnTo>
                    <a:pt x="495300" y="2114550"/>
                  </a:lnTo>
                  <a:cubicBezTo>
                    <a:pt x="495300" y="2130332"/>
                    <a:pt x="482507" y="2143125"/>
                    <a:pt x="466725" y="2143125"/>
                  </a:cubicBezTo>
                  <a:lnTo>
                    <a:pt x="28575" y="2143125"/>
                  </a:lnTo>
                  <a:cubicBezTo>
                    <a:pt x="12793" y="2143125"/>
                    <a:pt x="0" y="2130332"/>
                    <a:pt x="0" y="2114550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C1202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246015" y="3190399"/>
              <a:ext cx="2714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C12026"/>
                  </a:solidFill>
                  <a:latin typeface="Segoe UI"/>
                  <a:ea typeface="Microsoft YaHei"/>
                  <a:cs typeface="Segoe UI"/>
                </a:rPr>
                <a:t>999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178731" y="5590699"/>
              <a:ext cx="4060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C12026"/>
                  </a:solidFill>
                  <a:latin typeface="微軟正黑體"/>
                  <a:ea typeface="Microsoft YaHei"/>
                  <a:cs typeface="微軟正黑體"/>
                </a:rPr>
                <a:t>台新★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6838950" y="3810000"/>
              <a:ext cx="495300" cy="1714500"/>
            </a:xfrm>
            <a:custGeom>
              <a:avLst/>
              <a:gdLst/>
              <a:ahLst/>
              <a:cxnLst/>
              <a:rect l="l" t="t" r="r" b="b"/>
              <a:pathLst>
                <a:path w="495300" h="1714500">
                  <a:moveTo>
                    <a:pt x="28575" y="0"/>
                  </a:moveTo>
                  <a:lnTo>
                    <a:pt x="466725" y="0"/>
                  </a:lnTo>
                  <a:cubicBezTo>
                    <a:pt x="482507" y="0"/>
                    <a:pt x="495300" y="12793"/>
                    <a:pt x="495300" y="28575"/>
                  </a:cubicBezTo>
                  <a:lnTo>
                    <a:pt x="495300" y="1685925"/>
                  </a:lnTo>
                  <a:cubicBezTo>
                    <a:pt x="495300" y="1701707"/>
                    <a:pt x="482507" y="1714500"/>
                    <a:pt x="466725" y="1714500"/>
                  </a:cubicBezTo>
                  <a:lnTo>
                    <a:pt x="28575" y="1714500"/>
                  </a:lnTo>
                  <a:cubicBezTo>
                    <a:pt x="12793" y="1714500"/>
                    <a:pt x="0" y="1701707"/>
                    <a:pt x="0" y="16859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FFCDD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995810" y="3627120"/>
              <a:ext cx="1815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811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931819" y="5590699"/>
              <a:ext cx="309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4D4D4D"/>
                  </a:solidFill>
                  <a:latin typeface="微軟正黑體"/>
                  <a:ea typeface="Microsoft YaHei"/>
                  <a:cs typeface="微軟正黑體"/>
                </a:rPr>
                <a:t>聯邦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7543800" y="3514725"/>
              <a:ext cx="495300" cy="2009775"/>
            </a:xfrm>
            <a:custGeom>
              <a:avLst/>
              <a:gdLst/>
              <a:ahLst/>
              <a:cxnLst/>
              <a:rect l="l" t="t" r="r" b="b"/>
              <a:pathLst>
                <a:path w="495300" h="2009775">
                  <a:moveTo>
                    <a:pt x="28575" y="0"/>
                  </a:moveTo>
                  <a:lnTo>
                    <a:pt x="466725" y="0"/>
                  </a:lnTo>
                  <a:cubicBezTo>
                    <a:pt x="482507" y="0"/>
                    <a:pt x="495300" y="12793"/>
                    <a:pt x="495300" y="28575"/>
                  </a:cubicBezTo>
                  <a:lnTo>
                    <a:pt x="495300" y="1981200"/>
                  </a:lnTo>
                  <a:cubicBezTo>
                    <a:pt x="495300" y="1996982"/>
                    <a:pt x="482507" y="2009775"/>
                    <a:pt x="466725" y="2009775"/>
                  </a:cubicBezTo>
                  <a:lnTo>
                    <a:pt x="28575" y="2009775"/>
                  </a:lnTo>
                  <a:cubicBezTo>
                    <a:pt x="12793" y="2009775"/>
                    <a:pt x="0" y="1996982"/>
                    <a:pt x="0" y="1981200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FFCDD2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66156" y="3331845"/>
              <a:ext cx="2505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947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36669" y="5590699"/>
              <a:ext cx="309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4D4D4D"/>
                  </a:solidFill>
                  <a:latin typeface="微軟正黑體"/>
                  <a:ea typeface="Microsoft YaHei"/>
                  <a:cs typeface="微軟正黑體"/>
                </a:rPr>
                <a:t>新光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8248650" y="3962400"/>
              <a:ext cx="495300" cy="1562100"/>
            </a:xfrm>
            <a:custGeom>
              <a:avLst/>
              <a:gdLst/>
              <a:ahLst/>
              <a:cxnLst/>
              <a:rect l="l" t="t" r="r" b="b"/>
              <a:pathLst>
                <a:path w="495300" h="1562100">
                  <a:moveTo>
                    <a:pt x="28575" y="0"/>
                  </a:moveTo>
                  <a:lnTo>
                    <a:pt x="466725" y="0"/>
                  </a:lnTo>
                  <a:cubicBezTo>
                    <a:pt x="482507" y="0"/>
                    <a:pt x="495300" y="12793"/>
                    <a:pt x="495300" y="28575"/>
                  </a:cubicBezTo>
                  <a:lnTo>
                    <a:pt x="495300" y="1533525"/>
                  </a:lnTo>
                  <a:cubicBezTo>
                    <a:pt x="495300" y="1549307"/>
                    <a:pt x="482507" y="1562100"/>
                    <a:pt x="466725" y="1562100"/>
                  </a:cubicBezTo>
                  <a:lnTo>
                    <a:pt x="28575" y="1562100"/>
                  </a:lnTo>
                  <a:cubicBezTo>
                    <a:pt x="12793" y="1562100"/>
                    <a:pt x="0" y="1549307"/>
                    <a:pt x="0" y="15335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FFCDD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371006" y="3779520"/>
              <a:ext cx="2505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732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341519" y="5590699"/>
              <a:ext cx="309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4D4D4D"/>
                  </a:solidFill>
                  <a:latin typeface="微軟正黑體"/>
                  <a:ea typeface="Microsoft YaHei"/>
                  <a:cs typeface="微軟正黑體"/>
                </a:rPr>
                <a:t>華南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4581311" y="5990749"/>
            <a:ext cx="30293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66666"/>
                </a:solidFill>
                <a:latin typeface="微軟正黑體"/>
                <a:ea typeface="Microsoft JhengHei"/>
                <a:cs typeface="微軟正黑體"/>
              </a:rPr>
              <a:t>單位：百元/有效卡（當月簽帳金額/有效卡數）</a:t>
            </a:r>
          </a:p>
        </p:txBody>
      </p:sp>
      <p:pic>
        <p:nvPicPr>
          <p:cNvPr id="49" name="Image 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228" y="6229350"/>
            <a:ext cx="1576864" cy="600075"/>
          </a:xfrm>
          <a:prstGeom prst="rect">
            <a:avLst/>
          </a:prstGeom>
        </p:spPr>
      </p:pic>
      <p:sp>
        <p:nvSpPr>
          <p:cNvPr id="50" name="Rectangle 50"/>
          <p:cNvSpPr/>
          <p:nvPr/>
        </p:nvSpPr>
        <p:spPr>
          <a:xfrm>
            <a:off x="1952625" y="6457950"/>
            <a:ext cx="8334375" cy="14288"/>
          </a:xfrm>
          <a:prstGeom prst="rect">
            <a:avLst/>
          </a:prstGeom>
          <a:solidFill>
            <a:srgbClr val="C12026"/>
          </a:solidFill>
          <a:ln>
            <a:noFill/>
          </a:ln>
        </p:spPr>
      </p:sp>
      <p:sp>
        <p:nvSpPr>
          <p:cNvPr id="51" name="Rectangle 51"/>
          <p:cNvSpPr/>
          <p:nvPr/>
        </p:nvSpPr>
        <p:spPr>
          <a:xfrm>
            <a:off x="10287000" y="6457950"/>
            <a:ext cx="1457325" cy="14288"/>
          </a:xfrm>
          <a:prstGeom prst="rect">
            <a:avLst/>
          </a:prstGeom>
          <a:solidFill>
            <a:srgbClr val="CCCCCC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11991403" y="6611302"/>
            <a:ext cx="11868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微軟正黑體"/>
                <a:ea typeface="Microsoft JhengHei"/>
                <a:cs typeface="微軟正黑體"/>
              </a:rPr>
              <a:t>11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0567606" y="6611302"/>
            <a:ext cx="11614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智  慧  好  夥  伴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33425" y="614362"/>
            <a:ext cx="536424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1A1A1A"/>
                </a:solidFill>
                <a:latin typeface="微軟正黑體"/>
                <a:ea typeface="Microsoft JhengHei"/>
                <a:cs typeface="微軟正黑體"/>
              </a:rPr>
              <a:t>循環信用與分期 — 獲利驅動因子分析</a:t>
            </a:r>
          </a:p>
        </p:txBody>
      </p:sp>
      <p:sp>
        <p:nvSpPr>
          <p:cNvPr id="4" name="Freeform 4"/>
          <p:cNvSpPr/>
          <p:nvPr/>
        </p:nvSpPr>
        <p:spPr>
          <a:xfrm>
            <a:off x="762000" y="1285875"/>
            <a:ext cx="10668000" cy="457200"/>
          </a:xfrm>
          <a:custGeom>
            <a:avLst/>
            <a:gdLst/>
            <a:ahLst/>
            <a:cxnLst/>
            <a:rect l="l" t="t" r="r" b="b"/>
            <a:pathLst>
              <a:path w="10668000" h="457200">
                <a:moveTo>
                  <a:pt x="57150" y="0"/>
                </a:moveTo>
                <a:lnTo>
                  <a:pt x="10610850" y="0"/>
                </a:lnTo>
                <a:cubicBezTo>
                  <a:pt x="10642413" y="0"/>
                  <a:pt x="10668000" y="25587"/>
                  <a:pt x="10668000" y="57150"/>
                </a:cubicBezTo>
                <a:lnTo>
                  <a:pt x="10668000" y="400050"/>
                </a:lnTo>
                <a:cubicBezTo>
                  <a:pt x="10668000" y="431613"/>
                  <a:pt x="10642413" y="457200"/>
                  <a:pt x="10610850" y="457200"/>
                </a:cubicBezTo>
                <a:lnTo>
                  <a:pt x="57150" y="457200"/>
                </a:lnTo>
                <a:cubicBezTo>
                  <a:pt x="25587" y="457200"/>
                  <a:pt x="0" y="431613"/>
                  <a:pt x="0" y="4000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5F5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37260" y="1442085"/>
            <a:ext cx="567998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C12026"/>
                </a:solidFill>
                <a:latin typeface="微軟正黑體"/>
                <a:ea typeface="Microsoft JhengHei"/>
                <a:cs typeface="微軟正黑體"/>
              </a:rPr>
              <a:t>◆ 台新循環餘額 1,131 億 + 分期 2,034 億 = 3,165 億，授信規模 Top 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6760" y="2061210"/>
            <a:ext cx="44378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A1A1A"/>
                </a:solidFill>
                <a:latin typeface="微軟正黑體"/>
                <a:ea typeface="Microsoft JhengHei"/>
                <a:cs typeface="微軟正黑體"/>
              </a:rPr>
              <a:t>Top 8 銀行循環信用餘額 + 未到期分期餘額（十億元）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135255" y="2476500"/>
            <a:ext cx="14257877" cy="2914650"/>
            <a:chOff x="135255" y="2476500"/>
            <a:chExt cx="14257877" cy="2914650"/>
          </a:xfrm>
        </p:grpSpPr>
        <p:sp>
          <p:nvSpPr>
            <p:cNvPr id="7" name="TextBox 7"/>
            <p:cNvSpPr txBox="1"/>
            <p:nvPr/>
          </p:nvSpPr>
          <p:spPr>
            <a:xfrm>
              <a:off x="441960" y="2506028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4D4D4D"/>
                  </a:solidFill>
                  <a:latin typeface="微軟正黑體"/>
                  <a:ea typeface="Microsoft JhengHei"/>
                  <a:cs typeface="微軟正黑體"/>
                </a:rPr>
                <a:t>國泰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1047750" y="2476500"/>
              <a:ext cx="4857750" cy="228600"/>
            </a:xfrm>
            <a:custGeom>
              <a:avLst/>
              <a:gdLst/>
              <a:ahLst/>
              <a:cxnLst/>
              <a:rect l="l" t="t" r="r" b="b"/>
              <a:pathLst>
                <a:path w="4857750" h="228600">
                  <a:moveTo>
                    <a:pt x="28575" y="0"/>
                  </a:moveTo>
                  <a:lnTo>
                    <a:pt x="4829175" y="0"/>
                  </a:lnTo>
                  <a:cubicBezTo>
                    <a:pt x="4844957" y="0"/>
                    <a:pt x="4857750" y="12793"/>
                    <a:pt x="4857750" y="28575"/>
                  </a:cubicBezTo>
                  <a:lnTo>
                    <a:pt x="4857750" y="200025"/>
                  </a:lnTo>
                  <a:cubicBezTo>
                    <a:pt x="4857750" y="215807"/>
                    <a:pt x="4844957" y="228600"/>
                    <a:pt x="4829175" y="228600"/>
                  </a:cubicBezTo>
                  <a:lnTo>
                    <a:pt x="28575" y="228600"/>
                  </a:lnTo>
                  <a:cubicBezTo>
                    <a:pt x="12793" y="228600"/>
                    <a:pt x="0" y="215807"/>
                    <a:pt x="0" y="2000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5905500" y="2476500"/>
              <a:ext cx="5619750" cy="228600"/>
            </a:xfrm>
            <a:custGeom>
              <a:avLst/>
              <a:gdLst/>
              <a:ahLst/>
              <a:cxnLst/>
              <a:rect l="l" t="t" r="r" b="b"/>
              <a:pathLst>
                <a:path w="5619750" h="228600">
                  <a:moveTo>
                    <a:pt x="28575" y="0"/>
                  </a:moveTo>
                  <a:lnTo>
                    <a:pt x="5591175" y="0"/>
                  </a:lnTo>
                  <a:cubicBezTo>
                    <a:pt x="5606957" y="0"/>
                    <a:pt x="5619750" y="12793"/>
                    <a:pt x="5619750" y="28575"/>
                  </a:cubicBezTo>
                  <a:lnTo>
                    <a:pt x="5619750" y="200025"/>
                  </a:lnTo>
                  <a:cubicBezTo>
                    <a:pt x="5619750" y="215807"/>
                    <a:pt x="5606957" y="228600"/>
                    <a:pt x="5591175" y="228600"/>
                  </a:cubicBezTo>
                  <a:lnTo>
                    <a:pt x="28575" y="228600"/>
                  </a:lnTo>
                  <a:cubicBezTo>
                    <a:pt x="12793" y="228600"/>
                    <a:pt x="0" y="215807"/>
                    <a:pt x="0" y="2000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FFCDD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590020" y="2541270"/>
              <a:ext cx="5552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Segoe UI"/>
                  <a:ea typeface="Microsoft YaHei"/>
                  <a:cs typeface="Segoe UI"/>
                </a:rPr>
                <a:t>4,883 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5255" y="2887028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4D4D4D"/>
                  </a:solidFill>
                  <a:latin typeface="微軟正黑體"/>
                  <a:ea typeface="Microsoft JhengHei"/>
                  <a:cs typeface="微軟正黑體"/>
                </a:rPr>
                <a:t>台北富邦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1047750" y="2857500"/>
              <a:ext cx="3371850" cy="228600"/>
            </a:xfrm>
            <a:custGeom>
              <a:avLst/>
              <a:gdLst/>
              <a:ahLst/>
              <a:cxnLst/>
              <a:rect l="l" t="t" r="r" b="b"/>
              <a:pathLst>
                <a:path w="3371850" h="228600">
                  <a:moveTo>
                    <a:pt x="28575" y="0"/>
                  </a:moveTo>
                  <a:lnTo>
                    <a:pt x="3343275" y="0"/>
                  </a:lnTo>
                  <a:cubicBezTo>
                    <a:pt x="3359057" y="0"/>
                    <a:pt x="3371850" y="12793"/>
                    <a:pt x="3371850" y="28575"/>
                  </a:cubicBezTo>
                  <a:lnTo>
                    <a:pt x="3371850" y="200025"/>
                  </a:lnTo>
                  <a:cubicBezTo>
                    <a:pt x="3371850" y="215807"/>
                    <a:pt x="3359057" y="228600"/>
                    <a:pt x="3343275" y="228600"/>
                  </a:cubicBezTo>
                  <a:lnTo>
                    <a:pt x="28575" y="228600"/>
                  </a:lnTo>
                  <a:cubicBezTo>
                    <a:pt x="12793" y="228600"/>
                    <a:pt x="0" y="215807"/>
                    <a:pt x="0" y="2000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4419600" y="2857500"/>
              <a:ext cx="9372600" cy="228600"/>
            </a:xfrm>
            <a:custGeom>
              <a:avLst/>
              <a:gdLst/>
              <a:ahLst/>
              <a:cxnLst/>
              <a:rect l="l" t="t" r="r" b="b"/>
              <a:pathLst>
                <a:path w="9372600" h="228600">
                  <a:moveTo>
                    <a:pt x="28575" y="0"/>
                  </a:moveTo>
                  <a:lnTo>
                    <a:pt x="9344025" y="0"/>
                  </a:lnTo>
                  <a:cubicBezTo>
                    <a:pt x="9359807" y="0"/>
                    <a:pt x="9372600" y="12793"/>
                    <a:pt x="9372600" y="28575"/>
                  </a:cubicBezTo>
                  <a:lnTo>
                    <a:pt x="9372600" y="200025"/>
                  </a:lnTo>
                  <a:cubicBezTo>
                    <a:pt x="9372600" y="215807"/>
                    <a:pt x="9359807" y="228600"/>
                    <a:pt x="9344025" y="228600"/>
                  </a:cubicBezTo>
                  <a:lnTo>
                    <a:pt x="28575" y="228600"/>
                  </a:lnTo>
                  <a:cubicBezTo>
                    <a:pt x="12793" y="228600"/>
                    <a:pt x="0" y="215807"/>
                    <a:pt x="0" y="2000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FFCDD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3837920" y="2922270"/>
              <a:ext cx="5552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Segoe UI"/>
                  <a:ea typeface="Microsoft YaHei"/>
                  <a:cs typeface="Segoe UI"/>
                </a:rPr>
                <a:t>4,426 億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1960" y="3268028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4D4D4D"/>
                  </a:solidFill>
                  <a:latin typeface="微軟正黑體"/>
                  <a:ea typeface="Microsoft JhengHei"/>
                  <a:cs typeface="微軟正黑體"/>
                </a:rPr>
                <a:t>中信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1047750" y="3238500"/>
              <a:ext cx="5172075" cy="228600"/>
            </a:xfrm>
            <a:custGeom>
              <a:avLst/>
              <a:gdLst/>
              <a:ahLst/>
              <a:cxnLst/>
              <a:rect l="l" t="t" r="r" b="b"/>
              <a:pathLst>
                <a:path w="5172075" h="228600">
                  <a:moveTo>
                    <a:pt x="28575" y="0"/>
                  </a:moveTo>
                  <a:lnTo>
                    <a:pt x="5143500" y="0"/>
                  </a:lnTo>
                  <a:cubicBezTo>
                    <a:pt x="5159282" y="0"/>
                    <a:pt x="5172075" y="12793"/>
                    <a:pt x="5172075" y="28575"/>
                  </a:cubicBezTo>
                  <a:lnTo>
                    <a:pt x="5172075" y="200025"/>
                  </a:lnTo>
                  <a:cubicBezTo>
                    <a:pt x="5172075" y="215807"/>
                    <a:pt x="5159282" y="228600"/>
                    <a:pt x="5143500" y="228600"/>
                  </a:cubicBezTo>
                  <a:lnTo>
                    <a:pt x="28575" y="228600"/>
                  </a:lnTo>
                  <a:cubicBezTo>
                    <a:pt x="12793" y="228600"/>
                    <a:pt x="0" y="215807"/>
                    <a:pt x="0" y="2000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6219825" y="3238500"/>
              <a:ext cx="6219825" cy="228600"/>
            </a:xfrm>
            <a:custGeom>
              <a:avLst/>
              <a:gdLst/>
              <a:ahLst/>
              <a:cxnLst/>
              <a:rect l="l" t="t" r="r" b="b"/>
              <a:pathLst>
                <a:path w="6219825" h="228600">
                  <a:moveTo>
                    <a:pt x="28575" y="0"/>
                  </a:moveTo>
                  <a:lnTo>
                    <a:pt x="6191250" y="0"/>
                  </a:lnTo>
                  <a:cubicBezTo>
                    <a:pt x="6207032" y="0"/>
                    <a:pt x="6219825" y="12793"/>
                    <a:pt x="6219825" y="28575"/>
                  </a:cubicBezTo>
                  <a:lnTo>
                    <a:pt x="6219825" y="200025"/>
                  </a:lnTo>
                  <a:cubicBezTo>
                    <a:pt x="6219825" y="215807"/>
                    <a:pt x="6207032" y="228600"/>
                    <a:pt x="6191250" y="228600"/>
                  </a:cubicBezTo>
                  <a:lnTo>
                    <a:pt x="28575" y="228600"/>
                  </a:lnTo>
                  <a:cubicBezTo>
                    <a:pt x="12793" y="228600"/>
                    <a:pt x="0" y="215807"/>
                    <a:pt x="0" y="2000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FFCDD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2485370" y="3303270"/>
              <a:ext cx="5552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Segoe UI"/>
                  <a:ea typeface="Microsoft YaHei"/>
                  <a:cs typeface="Segoe UI"/>
                </a:rPr>
                <a:t>3,962 億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26625" y="3649028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C12026"/>
                  </a:solidFill>
                  <a:latin typeface="微軟正黑體"/>
                  <a:ea typeface="Microsoft JhengHei"/>
                  <a:cs typeface="微軟正黑體"/>
                </a:rPr>
                <a:t>台新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1047750" y="3619500"/>
              <a:ext cx="3286125" cy="228600"/>
            </a:xfrm>
            <a:custGeom>
              <a:avLst/>
              <a:gdLst/>
              <a:ahLst/>
              <a:cxnLst/>
              <a:rect l="l" t="t" r="r" b="b"/>
              <a:pathLst>
                <a:path w="3286125" h="228600">
                  <a:moveTo>
                    <a:pt x="28575" y="0"/>
                  </a:moveTo>
                  <a:lnTo>
                    <a:pt x="3257550" y="0"/>
                  </a:lnTo>
                  <a:cubicBezTo>
                    <a:pt x="3273332" y="0"/>
                    <a:pt x="3286125" y="12793"/>
                    <a:pt x="3286125" y="28575"/>
                  </a:cubicBezTo>
                  <a:lnTo>
                    <a:pt x="3286125" y="200025"/>
                  </a:lnTo>
                  <a:cubicBezTo>
                    <a:pt x="3286125" y="215807"/>
                    <a:pt x="3273332" y="228600"/>
                    <a:pt x="3257550" y="228600"/>
                  </a:cubicBezTo>
                  <a:lnTo>
                    <a:pt x="28575" y="228600"/>
                  </a:lnTo>
                  <a:cubicBezTo>
                    <a:pt x="12793" y="228600"/>
                    <a:pt x="0" y="215807"/>
                    <a:pt x="0" y="2000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C12026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4333875" y="3619500"/>
              <a:ext cx="5838825" cy="228600"/>
            </a:xfrm>
            <a:custGeom>
              <a:avLst/>
              <a:gdLst/>
              <a:ahLst/>
              <a:cxnLst/>
              <a:rect l="l" t="t" r="r" b="b"/>
              <a:pathLst>
                <a:path w="5838825" h="228600">
                  <a:moveTo>
                    <a:pt x="28575" y="0"/>
                  </a:moveTo>
                  <a:lnTo>
                    <a:pt x="5810250" y="0"/>
                  </a:lnTo>
                  <a:cubicBezTo>
                    <a:pt x="5826032" y="0"/>
                    <a:pt x="5838825" y="12793"/>
                    <a:pt x="5838825" y="28575"/>
                  </a:cubicBezTo>
                  <a:lnTo>
                    <a:pt x="5838825" y="200025"/>
                  </a:lnTo>
                  <a:cubicBezTo>
                    <a:pt x="5838825" y="215807"/>
                    <a:pt x="5826032" y="228600"/>
                    <a:pt x="5810250" y="228600"/>
                  </a:cubicBezTo>
                  <a:lnTo>
                    <a:pt x="28575" y="228600"/>
                  </a:lnTo>
                  <a:cubicBezTo>
                    <a:pt x="12793" y="228600"/>
                    <a:pt x="0" y="215807"/>
                    <a:pt x="0" y="2000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E5737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227945" y="3684270"/>
              <a:ext cx="5473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C12026"/>
                  </a:solidFill>
                  <a:latin typeface="Segoe UI"/>
                  <a:ea typeface="Microsoft YaHei"/>
                  <a:cs typeface="Segoe UI"/>
                </a:rPr>
                <a:t>3,165 億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1960" y="4030028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4D4D4D"/>
                  </a:solidFill>
                  <a:latin typeface="微軟正黑體"/>
                  <a:ea typeface="Microsoft JhengHei"/>
                  <a:cs typeface="微軟正黑體"/>
                </a:rPr>
                <a:t>玉山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1047750" y="4000500"/>
              <a:ext cx="5210175" cy="228600"/>
            </a:xfrm>
            <a:custGeom>
              <a:avLst/>
              <a:gdLst/>
              <a:ahLst/>
              <a:cxnLst/>
              <a:rect l="l" t="t" r="r" b="b"/>
              <a:pathLst>
                <a:path w="5210175" h="228600">
                  <a:moveTo>
                    <a:pt x="28575" y="0"/>
                  </a:moveTo>
                  <a:lnTo>
                    <a:pt x="5181600" y="0"/>
                  </a:lnTo>
                  <a:cubicBezTo>
                    <a:pt x="5197382" y="0"/>
                    <a:pt x="5210175" y="12793"/>
                    <a:pt x="5210175" y="28575"/>
                  </a:cubicBezTo>
                  <a:lnTo>
                    <a:pt x="5210175" y="200025"/>
                  </a:lnTo>
                  <a:cubicBezTo>
                    <a:pt x="5210175" y="215807"/>
                    <a:pt x="5197382" y="228600"/>
                    <a:pt x="5181600" y="228600"/>
                  </a:cubicBezTo>
                  <a:lnTo>
                    <a:pt x="28575" y="228600"/>
                  </a:lnTo>
                  <a:cubicBezTo>
                    <a:pt x="12793" y="228600"/>
                    <a:pt x="0" y="215807"/>
                    <a:pt x="0" y="2000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6257925" y="4000500"/>
              <a:ext cx="6924675" cy="228600"/>
            </a:xfrm>
            <a:custGeom>
              <a:avLst/>
              <a:gdLst/>
              <a:ahLst/>
              <a:cxnLst/>
              <a:rect l="l" t="t" r="r" b="b"/>
              <a:pathLst>
                <a:path w="6924675" h="228600">
                  <a:moveTo>
                    <a:pt x="28575" y="0"/>
                  </a:moveTo>
                  <a:lnTo>
                    <a:pt x="6896100" y="0"/>
                  </a:lnTo>
                  <a:cubicBezTo>
                    <a:pt x="6911882" y="0"/>
                    <a:pt x="6924675" y="12793"/>
                    <a:pt x="6924675" y="28575"/>
                  </a:cubicBezTo>
                  <a:lnTo>
                    <a:pt x="6924675" y="200025"/>
                  </a:lnTo>
                  <a:cubicBezTo>
                    <a:pt x="6924675" y="215807"/>
                    <a:pt x="6911882" y="228600"/>
                    <a:pt x="6896100" y="228600"/>
                  </a:cubicBezTo>
                  <a:lnTo>
                    <a:pt x="28575" y="228600"/>
                  </a:lnTo>
                  <a:cubicBezTo>
                    <a:pt x="12793" y="228600"/>
                    <a:pt x="0" y="215807"/>
                    <a:pt x="0" y="2000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FFCDD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3228320" y="4065270"/>
              <a:ext cx="5552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Segoe UI"/>
                  <a:ea typeface="Microsoft YaHei"/>
                  <a:cs typeface="Segoe UI"/>
                </a:rPr>
                <a:t>4,206 億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1960" y="4411028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4D4D4D"/>
                  </a:solidFill>
                  <a:latin typeface="微軟正黑體"/>
                  <a:ea typeface="Microsoft JhengHei"/>
                  <a:cs typeface="微軟正黑體"/>
                </a:rPr>
                <a:t>星展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1047750" y="4381500"/>
              <a:ext cx="2571750" cy="228600"/>
            </a:xfrm>
            <a:custGeom>
              <a:avLst/>
              <a:gdLst/>
              <a:ahLst/>
              <a:cxnLst/>
              <a:rect l="l" t="t" r="r" b="b"/>
              <a:pathLst>
                <a:path w="2571750" h="228600">
                  <a:moveTo>
                    <a:pt x="28575" y="0"/>
                  </a:moveTo>
                  <a:lnTo>
                    <a:pt x="2543175" y="0"/>
                  </a:lnTo>
                  <a:cubicBezTo>
                    <a:pt x="2558957" y="0"/>
                    <a:pt x="2571750" y="12793"/>
                    <a:pt x="2571750" y="28575"/>
                  </a:cubicBezTo>
                  <a:lnTo>
                    <a:pt x="2571750" y="200025"/>
                  </a:lnTo>
                  <a:cubicBezTo>
                    <a:pt x="2571750" y="215807"/>
                    <a:pt x="2558957" y="228600"/>
                    <a:pt x="2543175" y="228600"/>
                  </a:cubicBezTo>
                  <a:lnTo>
                    <a:pt x="28575" y="228600"/>
                  </a:lnTo>
                  <a:cubicBezTo>
                    <a:pt x="12793" y="228600"/>
                    <a:pt x="0" y="215807"/>
                    <a:pt x="0" y="2000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3619500" y="4381500"/>
              <a:ext cx="4886325" cy="228600"/>
            </a:xfrm>
            <a:custGeom>
              <a:avLst/>
              <a:gdLst/>
              <a:ahLst/>
              <a:cxnLst/>
              <a:rect l="l" t="t" r="r" b="b"/>
              <a:pathLst>
                <a:path w="4886325" h="228600">
                  <a:moveTo>
                    <a:pt x="28575" y="0"/>
                  </a:moveTo>
                  <a:lnTo>
                    <a:pt x="4857750" y="0"/>
                  </a:lnTo>
                  <a:cubicBezTo>
                    <a:pt x="4873532" y="0"/>
                    <a:pt x="4886325" y="12793"/>
                    <a:pt x="4886325" y="28575"/>
                  </a:cubicBezTo>
                  <a:lnTo>
                    <a:pt x="4886325" y="200025"/>
                  </a:lnTo>
                  <a:cubicBezTo>
                    <a:pt x="4886325" y="215807"/>
                    <a:pt x="4873532" y="228600"/>
                    <a:pt x="4857750" y="228600"/>
                  </a:cubicBezTo>
                  <a:lnTo>
                    <a:pt x="28575" y="228600"/>
                  </a:lnTo>
                  <a:cubicBezTo>
                    <a:pt x="12793" y="228600"/>
                    <a:pt x="0" y="215807"/>
                    <a:pt x="0" y="2000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FFCDD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561070" y="4446270"/>
              <a:ext cx="5552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Segoe UI"/>
                  <a:ea typeface="Microsoft YaHei"/>
                  <a:cs typeface="Segoe UI"/>
                </a:rPr>
                <a:t>2,597 億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1960" y="4792028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4D4D4D"/>
                  </a:solidFill>
                  <a:latin typeface="微軟正黑體"/>
                  <a:ea typeface="Microsoft JhengHei"/>
                  <a:cs typeface="微軟正黑體"/>
                </a:rPr>
                <a:t>聯邦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1047750" y="4762500"/>
              <a:ext cx="1905000" cy="228600"/>
            </a:xfrm>
            <a:custGeom>
              <a:avLst/>
              <a:gdLst/>
              <a:ahLst/>
              <a:cxnLst/>
              <a:rect l="l" t="t" r="r" b="b"/>
              <a:pathLst>
                <a:path w="1905000" h="228600">
                  <a:moveTo>
                    <a:pt x="28575" y="0"/>
                  </a:moveTo>
                  <a:lnTo>
                    <a:pt x="1876425" y="0"/>
                  </a:lnTo>
                  <a:cubicBezTo>
                    <a:pt x="1892207" y="0"/>
                    <a:pt x="1905000" y="12793"/>
                    <a:pt x="1905000" y="28575"/>
                  </a:cubicBezTo>
                  <a:lnTo>
                    <a:pt x="1905000" y="200025"/>
                  </a:lnTo>
                  <a:cubicBezTo>
                    <a:pt x="1905000" y="215807"/>
                    <a:pt x="1892207" y="228600"/>
                    <a:pt x="1876425" y="228600"/>
                  </a:cubicBezTo>
                  <a:lnTo>
                    <a:pt x="28575" y="228600"/>
                  </a:lnTo>
                  <a:cubicBezTo>
                    <a:pt x="12793" y="228600"/>
                    <a:pt x="0" y="215807"/>
                    <a:pt x="0" y="2000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2952750" y="4762500"/>
              <a:ext cx="2457450" cy="228600"/>
            </a:xfrm>
            <a:custGeom>
              <a:avLst/>
              <a:gdLst/>
              <a:ahLst/>
              <a:cxnLst/>
              <a:rect l="l" t="t" r="r" b="b"/>
              <a:pathLst>
                <a:path w="2457450" h="228600">
                  <a:moveTo>
                    <a:pt x="28575" y="0"/>
                  </a:moveTo>
                  <a:lnTo>
                    <a:pt x="2428875" y="0"/>
                  </a:lnTo>
                  <a:cubicBezTo>
                    <a:pt x="2444657" y="0"/>
                    <a:pt x="2457450" y="12793"/>
                    <a:pt x="2457450" y="28575"/>
                  </a:cubicBezTo>
                  <a:lnTo>
                    <a:pt x="2457450" y="200025"/>
                  </a:lnTo>
                  <a:cubicBezTo>
                    <a:pt x="2457450" y="215807"/>
                    <a:pt x="2444657" y="228600"/>
                    <a:pt x="2428875" y="228600"/>
                  </a:cubicBezTo>
                  <a:lnTo>
                    <a:pt x="28575" y="228600"/>
                  </a:lnTo>
                  <a:cubicBezTo>
                    <a:pt x="12793" y="228600"/>
                    <a:pt x="0" y="215807"/>
                    <a:pt x="0" y="2000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FFCDD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455920" y="4827270"/>
              <a:ext cx="4894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Segoe UI"/>
                  <a:ea typeface="Microsoft YaHei"/>
                  <a:cs typeface="Segoe UI"/>
                </a:rPr>
                <a:t>1,519 億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41960" y="5173028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4D4D4D"/>
                  </a:solidFill>
                  <a:latin typeface="微軟正黑體"/>
                  <a:ea typeface="Microsoft JhengHei"/>
                  <a:cs typeface="微軟正黑體"/>
                </a:rPr>
                <a:t>永豐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1047750" y="5143500"/>
              <a:ext cx="1143000" cy="228600"/>
            </a:xfrm>
            <a:custGeom>
              <a:avLst/>
              <a:gdLst/>
              <a:ahLst/>
              <a:cxnLst/>
              <a:rect l="l" t="t" r="r" b="b"/>
              <a:pathLst>
                <a:path w="1143000" h="228600">
                  <a:moveTo>
                    <a:pt x="28575" y="0"/>
                  </a:moveTo>
                  <a:lnTo>
                    <a:pt x="1114425" y="0"/>
                  </a:lnTo>
                  <a:cubicBezTo>
                    <a:pt x="1130207" y="0"/>
                    <a:pt x="1143000" y="12793"/>
                    <a:pt x="1143000" y="28575"/>
                  </a:cubicBezTo>
                  <a:lnTo>
                    <a:pt x="1143000" y="200025"/>
                  </a:lnTo>
                  <a:cubicBezTo>
                    <a:pt x="1143000" y="215807"/>
                    <a:pt x="1130207" y="228600"/>
                    <a:pt x="1114425" y="228600"/>
                  </a:cubicBezTo>
                  <a:lnTo>
                    <a:pt x="28575" y="228600"/>
                  </a:lnTo>
                  <a:cubicBezTo>
                    <a:pt x="12793" y="228600"/>
                    <a:pt x="0" y="215807"/>
                    <a:pt x="0" y="2000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2190750" y="5143500"/>
              <a:ext cx="1533525" cy="228600"/>
            </a:xfrm>
            <a:custGeom>
              <a:avLst/>
              <a:gdLst/>
              <a:ahLst/>
              <a:cxnLst/>
              <a:rect l="l" t="t" r="r" b="b"/>
              <a:pathLst>
                <a:path w="1533525" h="228600">
                  <a:moveTo>
                    <a:pt x="28575" y="0"/>
                  </a:moveTo>
                  <a:lnTo>
                    <a:pt x="1504950" y="0"/>
                  </a:lnTo>
                  <a:cubicBezTo>
                    <a:pt x="1520732" y="0"/>
                    <a:pt x="1533525" y="12793"/>
                    <a:pt x="1533525" y="28575"/>
                  </a:cubicBezTo>
                  <a:lnTo>
                    <a:pt x="1533525" y="200025"/>
                  </a:lnTo>
                  <a:cubicBezTo>
                    <a:pt x="1533525" y="215807"/>
                    <a:pt x="1520732" y="228600"/>
                    <a:pt x="1504950" y="228600"/>
                  </a:cubicBezTo>
                  <a:lnTo>
                    <a:pt x="28575" y="228600"/>
                  </a:lnTo>
                  <a:cubicBezTo>
                    <a:pt x="12793" y="228600"/>
                    <a:pt x="0" y="215807"/>
                    <a:pt x="0" y="2000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FFCDD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769995" y="5208270"/>
              <a:ext cx="4106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Segoe UI"/>
                  <a:ea typeface="Microsoft YaHei"/>
                  <a:cs typeface="Segoe UI"/>
                </a:rPr>
                <a:t>924 億</a:t>
              </a:r>
            </a:p>
          </p:txBody>
        </p:sp>
      </p:grpSp>
      <p:sp>
        <p:nvSpPr>
          <p:cNvPr id="40" name="Freeform 40"/>
          <p:cNvSpPr/>
          <p:nvPr/>
        </p:nvSpPr>
        <p:spPr>
          <a:xfrm>
            <a:off x="952500" y="56197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28575" y="0"/>
                </a:moveTo>
                <a:lnTo>
                  <a:pt x="123825" y="0"/>
                </a:lnTo>
                <a:cubicBezTo>
                  <a:pt x="139607" y="0"/>
                  <a:pt x="152400" y="12793"/>
                  <a:pt x="152400" y="28575"/>
                </a:cubicBezTo>
                <a:lnTo>
                  <a:pt x="152400" y="123825"/>
                </a:lnTo>
                <a:cubicBezTo>
                  <a:pt x="152400" y="139607"/>
                  <a:pt x="139607" y="152400"/>
                  <a:pt x="123825" y="152400"/>
                </a:cubicBezTo>
                <a:lnTo>
                  <a:pt x="28575" y="152400"/>
                </a:lnTo>
                <a:cubicBezTo>
                  <a:pt x="12793" y="152400"/>
                  <a:pt x="0" y="139607"/>
                  <a:pt x="0" y="1238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1A1A1A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1149668" y="5638324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D4D4D"/>
                </a:solidFill>
                <a:latin typeface="微軟正黑體"/>
                <a:ea typeface="Microsoft JhengHei"/>
                <a:cs typeface="微軟正黑體"/>
              </a:rPr>
              <a:t>循環信用餘額</a:t>
            </a:r>
          </a:p>
        </p:txBody>
      </p:sp>
      <p:sp>
        <p:nvSpPr>
          <p:cNvPr id="42" name="Freeform 42"/>
          <p:cNvSpPr/>
          <p:nvPr/>
        </p:nvSpPr>
        <p:spPr>
          <a:xfrm>
            <a:off x="2667000" y="56197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28575" y="0"/>
                </a:moveTo>
                <a:lnTo>
                  <a:pt x="123825" y="0"/>
                </a:lnTo>
                <a:cubicBezTo>
                  <a:pt x="139607" y="0"/>
                  <a:pt x="152400" y="12793"/>
                  <a:pt x="152400" y="28575"/>
                </a:cubicBezTo>
                <a:lnTo>
                  <a:pt x="152400" y="123825"/>
                </a:lnTo>
                <a:cubicBezTo>
                  <a:pt x="152400" y="139607"/>
                  <a:pt x="139607" y="152400"/>
                  <a:pt x="123825" y="152400"/>
                </a:cubicBezTo>
                <a:lnTo>
                  <a:pt x="28575" y="152400"/>
                </a:lnTo>
                <a:cubicBezTo>
                  <a:pt x="12793" y="152400"/>
                  <a:pt x="0" y="139607"/>
                  <a:pt x="0" y="1238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CDD2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2864168" y="5638324"/>
            <a:ext cx="13063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D4D4D"/>
                </a:solidFill>
                <a:latin typeface="微軟正黑體"/>
                <a:ea typeface="Microsoft JhengHei"/>
                <a:cs typeface="微軟正黑體"/>
              </a:rPr>
              <a:t>未到期分期付款餘額</a:t>
            </a:r>
          </a:p>
        </p:txBody>
      </p:sp>
      <p:sp>
        <p:nvSpPr>
          <p:cNvPr id="44" name="Freeform 44"/>
          <p:cNvSpPr/>
          <p:nvPr/>
        </p:nvSpPr>
        <p:spPr>
          <a:xfrm>
            <a:off x="762000" y="5905500"/>
            <a:ext cx="10668000" cy="381000"/>
          </a:xfrm>
          <a:custGeom>
            <a:avLst/>
            <a:gdLst/>
            <a:ahLst/>
            <a:cxnLst/>
            <a:rect l="l" t="t" r="r" b="b"/>
            <a:pathLst>
              <a:path w="10668000" h="381000">
                <a:moveTo>
                  <a:pt x="57150" y="0"/>
                </a:moveTo>
                <a:lnTo>
                  <a:pt x="10610850" y="0"/>
                </a:lnTo>
                <a:cubicBezTo>
                  <a:pt x="10642413" y="0"/>
                  <a:pt x="10668000" y="25587"/>
                  <a:pt x="10668000" y="57150"/>
                </a:cubicBezTo>
                <a:lnTo>
                  <a:pt x="10668000" y="323850"/>
                </a:lnTo>
                <a:cubicBezTo>
                  <a:pt x="10668000" y="355413"/>
                  <a:pt x="10642413" y="381000"/>
                  <a:pt x="10610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939165" y="6030278"/>
            <a:ext cx="691219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D4D4D"/>
                </a:solidFill>
                <a:latin typeface="微軟正黑體"/>
                <a:ea typeface="Microsoft JhengHei"/>
                <a:cs typeface="微軟正黑體"/>
              </a:rPr>
              <a:t>台北富邦分期餘額達 3,279 億，反映其分期產品策略深入；台新循環/分期比例均衡，獲利結構穩定。</a:t>
            </a:r>
          </a:p>
        </p:txBody>
      </p:sp>
      <p:pic>
        <p:nvPicPr>
          <p:cNvPr id="46" name="Image 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228" y="6229350"/>
            <a:ext cx="1576864" cy="600075"/>
          </a:xfrm>
          <a:prstGeom prst="rect">
            <a:avLst/>
          </a:prstGeom>
        </p:spPr>
      </p:pic>
      <p:sp>
        <p:nvSpPr>
          <p:cNvPr id="47" name="Rectangle 47"/>
          <p:cNvSpPr/>
          <p:nvPr/>
        </p:nvSpPr>
        <p:spPr>
          <a:xfrm>
            <a:off x="1952625" y="6457950"/>
            <a:ext cx="8334375" cy="14288"/>
          </a:xfrm>
          <a:prstGeom prst="rect">
            <a:avLst/>
          </a:prstGeom>
          <a:solidFill>
            <a:srgbClr val="C12026"/>
          </a:solidFill>
          <a:ln>
            <a:noFill/>
          </a:ln>
        </p:spPr>
      </p:sp>
      <p:sp>
        <p:nvSpPr>
          <p:cNvPr id="48" name="Rectangle 48"/>
          <p:cNvSpPr/>
          <p:nvPr/>
        </p:nvSpPr>
        <p:spPr>
          <a:xfrm>
            <a:off x="10287000" y="6457950"/>
            <a:ext cx="1457325" cy="14288"/>
          </a:xfrm>
          <a:prstGeom prst="rect">
            <a:avLst/>
          </a:prstGeom>
          <a:solidFill>
            <a:srgbClr val="CCCCCC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11953065" y="6611302"/>
            <a:ext cx="1570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微軟正黑體"/>
                <a:ea typeface="Microsoft JhengHei"/>
                <a:cs typeface="微軟正黑體"/>
              </a:rPr>
              <a:t>12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567606" y="6611302"/>
            <a:ext cx="11614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智  慧  好  夥  伴</a:t>
            </a: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5442466" y="2584132"/>
            <a:ext cx="13070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C12026"/>
                </a:solidFill>
                <a:latin typeface="微軟正黑體"/>
                <a:ea typeface="Microsoft JhengHei"/>
                <a:cs typeface="微軟正黑體"/>
              </a:rPr>
              <a:t>CHAPTER 04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670108" y="2849880"/>
            <a:ext cx="2851785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4D4D4D"/>
                </a:solidFill>
                <a:latin typeface="微軟正黑體"/>
                <a:ea typeface="Microsoft JhengHei"/>
                <a:cs typeface="微軟正黑體"/>
              </a:rPr>
              <a:t>風險與警訊</a:t>
            </a:r>
          </a:p>
        </p:txBody>
      </p:sp>
      <p:sp>
        <p:nvSpPr>
          <p:cNvPr id="5" name="Rectangle 5"/>
          <p:cNvSpPr/>
          <p:nvPr/>
        </p:nvSpPr>
        <p:spPr>
          <a:xfrm>
            <a:off x="5143500" y="3810000"/>
            <a:ext cx="1905000" cy="28575"/>
          </a:xfrm>
          <a:prstGeom prst="rect">
            <a:avLst/>
          </a:prstGeom>
          <a:solidFill>
            <a:srgbClr val="C12026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1953065" y="6611302"/>
            <a:ext cx="1570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微軟正黑體"/>
                <a:ea typeface="Microsoft JhengHei"/>
                <a:cs typeface="微軟正黑體"/>
              </a:rPr>
              <a:t>13</a:t>
            </a:r>
          </a:p>
        </p:txBody>
      </p:sp>
      <p:pic>
        <p:nvPicPr>
          <p:cNvPr id="7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6874" y="5695950"/>
            <a:ext cx="2778252" cy="105727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33425" y="614362"/>
            <a:ext cx="6251496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1A1A1A"/>
                </a:solidFill>
                <a:latin typeface="微軟正黑體"/>
                <a:ea typeface="Microsoft JhengHei"/>
                <a:cs typeface="微軟正黑體"/>
              </a:rPr>
              <a:t>風險指標比較 — 逾期率 vs 備抵呆帳提足率</a:t>
            </a:r>
          </a:p>
        </p:txBody>
      </p:sp>
      <p:sp>
        <p:nvSpPr>
          <p:cNvPr id="4" name="Freeform 4"/>
          <p:cNvSpPr/>
          <p:nvPr/>
        </p:nvSpPr>
        <p:spPr>
          <a:xfrm>
            <a:off x="762000" y="1285875"/>
            <a:ext cx="10668000" cy="457200"/>
          </a:xfrm>
          <a:custGeom>
            <a:avLst/>
            <a:gdLst/>
            <a:ahLst/>
            <a:cxnLst/>
            <a:rect l="l" t="t" r="r" b="b"/>
            <a:pathLst>
              <a:path w="10668000" h="457200">
                <a:moveTo>
                  <a:pt x="57150" y="0"/>
                </a:moveTo>
                <a:lnTo>
                  <a:pt x="10610850" y="0"/>
                </a:lnTo>
                <a:cubicBezTo>
                  <a:pt x="10642413" y="0"/>
                  <a:pt x="10668000" y="25587"/>
                  <a:pt x="10668000" y="57150"/>
                </a:cubicBezTo>
                <a:lnTo>
                  <a:pt x="10668000" y="400050"/>
                </a:lnTo>
                <a:cubicBezTo>
                  <a:pt x="10668000" y="431613"/>
                  <a:pt x="10642413" y="457200"/>
                  <a:pt x="10610850" y="457200"/>
                </a:cubicBezTo>
                <a:lnTo>
                  <a:pt x="57150" y="457200"/>
                </a:lnTo>
                <a:cubicBezTo>
                  <a:pt x="25587" y="457200"/>
                  <a:pt x="0" y="431613"/>
                  <a:pt x="0" y="4000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5F5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37260" y="1442085"/>
            <a:ext cx="67381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C12026"/>
                </a:solidFill>
                <a:latin typeface="微軟正黑體"/>
                <a:ea typeface="Microsoft JhengHei"/>
                <a:cs typeface="微軟正黑體"/>
              </a:rPr>
              <a:t>◆ 樂天逾期率 2.02% 為市場平均 8.4 倍；台新 0.22% + 提足率 629% 風險控管良好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4855" y="1949768"/>
            <a:ext cx="341916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微軟正黑體"/>
                <a:ea typeface="Microsoft JhengHei"/>
                <a:cs typeface="微軟正黑體"/>
              </a:rPr>
              <a:t>逾期三個月以上比率（%）Top 5 偏高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1960" y="2410778"/>
            <a:ext cx="3333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4D4D4D"/>
                </a:solidFill>
                <a:latin typeface="微軟正黑體"/>
                <a:ea typeface="Microsoft JhengHei"/>
                <a:cs typeface="微軟正黑體"/>
              </a:rPr>
              <a:t>樂天</a:t>
            </a:r>
          </a:p>
        </p:txBody>
      </p:sp>
      <p:sp>
        <p:nvSpPr>
          <p:cNvPr id="8" name="Freeform 8"/>
          <p:cNvSpPr/>
          <p:nvPr/>
        </p:nvSpPr>
        <p:spPr>
          <a:xfrm>
            <a:off x="1047750" y="2381250"/>
            <a:ext cx="3810000" cy="228600"/>
          </a:xfrm>
          <a:custGeom>
            <a:avLst/>
            <a:gdLst/>
            <a:ahLst/>
            <a:cxnLst/>
            <a:rect l="l" t="t" r="r" b="b"/>
            <a:pathLst>
              <a:path w="3810000" h="228600">
                <a:moveTo>
                  <a:pt x="28575" y="0"/>
                </a:moveTo>
                <a:lnTo>
                  <a:pt x="3781425" y="0"/>
                </a:lnTo>
                <a:cubicBezTo>
                  <a:pt x="3797207" y="0"/>
                  <a:pt x="3810000" y="12793"/>
                  <a:pt x="3810000" y="28575"/>
                </a:cubicBezTo>
                <a:lnTo>
                  <a:pt x="3810000" y="200025"/>
                </a:lnTo>
                <a:cubicBezTo>
                  <a:pt x="3810000" y="215807"/>
                  <a:pt x="3797207" y="228600"/>
                  <a:pt x="3781425" y="228600"/>
                </a:cubicBezTo>
                <a:lnTo>
                  <a:pt x="28575" y="228600"/>
                </a:lnTo>
                <a:cubicBezTo>
                  <a:pt x="12793" y="228600"/>
                  <a:pt x="0" y="215807"/>
                  <a:pt x="0" y="2000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C6282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4940618" y="2437924"/>
            <a:ext cx="4359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2.02%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41960" y="2791778"/>
            <a:ext cx="3333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4D4D4D"/>
                </a:solidFill>
                <a:latin typeface="微軟正黑體"/>
                <a:ea typeface="Microsoft JhengHei"/>
                <a:cs typeface="微軟正黑體"/>
              </a:rPr>
              <a:t>凱基</a:t>
            </a:r>
          </a:p>
        </p:txBody>
      </p:sp>
      <p:sp>
        <p:nvSpPr>
          <p:cNvPr id="11" name="Freeform 11"/>
          <p:cNvSpPr/>
          <p:nvPr/>
        </p:nvSpPr>
        <p:spPr>
          <a:xfrm>
            <a:off x="1047750" y="2762250"/>
            <a:ext cx="1428750" cy="228600"/>
          </a:xfrm>
          <a:custGeom>
            <a:avLst/>
            <a:gdLst/>
            <a:ahLst/>
            <a:cxnLst/>
            <a:rect l="l" t="t" r="r" b="b"/>
            <a:pathLst>
              <a:path w="1428750" h="228600">
                <a:moveTo>
                  <a:pt x="28575" y="0"/>
                </a:moveTo>
                <a:lnTo>
                  <a:pt x="1400175" y="0"/>
                </a:lnTo>
                <a:cubicBezTo>
                  <a:pt x="1415957" y="0"/>
                  <a:pt x="1428750" y="12793"/>
                  <a:pt x="1428750" y="28575"/>
                </a:cubicBezTo>
                <a:lnTo>
                  <a:pt x="1428750" y="200025"/>
                </a:lnTo>
                <a:cubicBezTo>
                  <a:pt x="1428750" y="215807"/>
                  <a:pt x="1415957" y="228600"/>
                  <a:pt x="1400175" y="228600"/>
                </a:cubicBezTo>
                <a:lnTo>
                  <a:pt x="28575" y="228600"/>
                </a:lnTo>
                <a:cubicBezTo>
                  <a:pt x="12793" y="228600"/>
                  <a:pt x="0" y="215807"/>
                  <a:pt x="0" y="2000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D32F2F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2559368" y="2818924"/>
            <a:ext cx="4359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0.75%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41960" y="3172778"/>
            <a:ext cx="3333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4D4D4D"/>
                </a:solidFill>
                <a:latin typeface="微軟正黑體"/>
                <a:ea typeface="Microsoft JhengHei"/>
                <a:cs typeface="微軟正黑體"/>
              </a:rPr>
              <a:t>星展</a:t>
            </a:r>
          </a:p>
        </p:txBody>
      </p:sp>
      <p:sp>
        <p:nvSpPr>
          <p:cNvPr id="14" name="Freeform 14"/>
          <p:cNvSpPr/>
          <p:nvPr/>
        </p:nvSpPr>
        <p:spPr>
          <a:xfrm>
            <a:off x="1047750" y="3143250"/>
            <a:ext cx="952500" cy="228600"/>
          </a:xfrm>
          <a:custGeom>
            <a:avLst/>
            <a:gdLst/>
            <a:ahLst/>
            <a:cxnLst/>
            <a:rect l="l" t="t" r="r" b="b"/>
            <a:pathLst>
              <a:path w="952500" h="228600">
                <a:moveTo>
                  <a:pt x="28575" y="0"/>
                </a:moveTo>
                <a:lnTo>
                  <a:pt x="923925" y="0"/>
                </a:lnTo>
                <a:cubicBezTo>
                  <a:pt x="939707" y="0"/>
                  <a:pt x="952500" y="12793"/>
                  <a:pt x="952500" y="28575"/>
                </a:cubicBezTo>
                <a:lnTo>
                  <a:pt x="952500" y="200025"/>
                </a:lnTo>
                <a:cubicBezTo>
                  <a:pt x="952500" y="215807"/>
                  <a:pt x="939707" y="228600"/>
                  <a:pt x="923925" y="228600"/>
                </a:cubicBezTo>
                <a:lnTo>
                  <a:pt x="28575" y="228600"/>
                </a:lnTo>
                <a:cubicBezTo>
                  <a:pt x="12793" y="228600"/>
                  <a:pt x="0" y="215807"/>
                  <a:pt x="0" y="2000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E53935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2083118" y="3199924"/>
            <a:ext cx="4359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0.50%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41960" y="3553778"/>
            <a:ext cx="3333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4D4D4D"/>
                </a:solidFill>
                <a:latin typeface="微軟正黑體"/>
                <a:ea typeface="Microsoft JhengHei"/>
                <a:cs typeface="微軟正黑體"/>
              </a:rPr>
              <a:t>玉山</a:t>
            </a:r>
          </a:p>
        </p:txBody>
      </p:sp>
      <p:sp>
        <p:nvSpPr>
          <p:cNvPr id="17" name="Freeform 17"/>
          <p:cNvSpPr/>
          <p:nvPr/>
        </p:nvSpPr>
        <p:spPr>
          <a:xfrm>
            <a:off x="1047750" y="3524250"/>
            <a:ext cx="704850" cy="228600"/>
          </a:xfrm>
          <a:custGeom>
            <a:avLst/>
            <a:gdLst/>
            <a:ahLst/>
            <a:cxnLst/>
            <a:rect l="l" t="t" r="r" b="b"/>
            <a:pathLst>
              <a:path w="704850" h="228600">
                <a:moveTo>
                  <a:pt x="28575" y="0"/>
                </a:moveTo>
                <a:lnTo>
                  <a:pt x="676275" y="0"/>
                </a:lnTo>
                <a:cubicBezTo>
                  <a:pt x="692057" y="0"/>
                  <a:pt x="704850" y="12793"/>
                  <a:pt x="704850" y="28575"/>
                </a:cubicBezTo>
                <a:lnTo>
                  <a:pt x="704850" y="200025"/>
                </a:lnTo>
                <a:cubicBezTo>
                  <a:pt x="704850" y="215807"/>
                  <a:pt x="692057" y="228600"/>
                  <a:pt x="676275" y="228600"/>
                </a:cubicBezTo>
                <a:lnTo>
                  <a:pt x="28575" y="228600"/>
                </a:lnTo>
                <a:cubicBezTo>
                  <a:pt x="12793" y="228600"/>
                  <a:pt x="0" y="215807"/>
                  <a:pt x="0" y="2000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EF535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835468" y="3580924"/>
            <a:ext cx="4359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0.37%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41960" y="3934778"/>
            <a:ext cx="3333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4D4D4D"/>
                </a:solidFill>
                <a:latin typeface="微軟正黑體"/>
                <a:ea typeface="Microsoft JhengHei"/>
                <a:cs typeface="微軟正黑體"/>
              </a:rPr>
              <a:t>陽信</a:t>
            </a:r>
          </a:p>
        </p:txBody>
      </p:sp>
      <p:sp>
        <p:nvSpPr>
          <p:cNvPr id="20" name="Freeform 20"/>
          <p:cNvSpPr/>
          <p:nvPr/>
        </p:nvSpPr>
        <p:spPr>
          <a:xfrm>
            <a:off x="1047750" y="3905250"/>
            <a:ext cx="685800" cy="228600"/>
          </a:xfrm>
          <a:custGeom>
            <a:avLst/>
            <a:gdLst/>
            <a:ahLst/>
            <a:cxnLst/>
            <a:rect l="l" t="t" r="r" b="b"/>
            <a:pathLst>
              <a:path w="685800" h="228600">
                <a:moveTo>
                  <a:pt x="28575" y="0"/>
                </a:moveTo>
                <a:lnTo>
                  <a:pt x="657225" y="0"/>
                </a:lnTo>
                <a:cubicBezTo>
                  <a:pt x="673007" y="0"/>
                  <a:pt x="685800" y="12793"/>
                  <a:pt x="685800" y="28575"/>
                </a:cubicBezTo>
                <a:lnTo>
                  <a:pt x="685800" y="200025"/>
                </a:lnTo>
                <a:cubicBezTo>
                  <a:pt x="685800" y="215807"/>
                  <a:pt x="673007" y="228600"/>
                  <a:pt x="657225" y="228600"/>
                </a:cubicBezTo>
                <a:lnTo>
                  <a:pt x="28575" y="228600"/>
                </a:lnTo>
                <a:cubicBezTo>
                  <a:pt x="12793" y="228600"/>
                  <a:pt x="0" y="215807"/>
                  <a:pt x="0" y="2000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E57373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816418" y="3961924"/>
            <a:ext cx="4359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0.36%</a:t>
            </a:r>
          </a:p>
        </p:txBody>
      </p:sp>
      <p:sp>
        <p:nvSpPr>
          <p:cNvPr id="22" name="Line 22"/>
          <p:cNvSpPr/>
          <p:nvPr/>
        </p:nvSpPr>
        <p:spPr>
          <a:xfrm>
            <a:off x="1047750" y="4286250"/>
            <a:ext cx="285750" cy="9525"/>
          </a:xfrm>
          <a:custGeom>
            <a:avLst/>
            <a:gdLst/>
            <a:ahLst/>
            <a:cxnLst/>
            <a:rect l="l" t="t" r="r" b="b"/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19050">
            <a:solidFill>
              <a:srgbClr val="C12026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1398270" y="4236720"/>
            <a:ext cx="99588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C12026"/>
                </a:solidFill>
                <a:latin typeface="Segoe UI"/>
                <a:ea typeface="Microsoft YaHei"/>
                <a:cs typeface="Segoe UI"/>
              </a:rPr>
              <a:t>市場平均 0.24%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697855" y="1949768"/>
            <a:ext cx="300511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微軟正黑體"/>
                <a:ea typeface="Microsoft JhengHei"/>
                <a:cs typeface="微軟正黑體"/>
              </a:rPr>
              <a:t>備抵呆帳提足率（%）Top 5 偏低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6096000" y="3101816"/>
            <a:ext cx="5143500" cy="2270284"/>
            <a:chOff x="6096000" y="3101816"/>
            <a:chExt cx="5143500" cy="2270284"/>
          </a:xfrm>
        </p:grpSpPr>
        <p:sp>
          <p:nvSpPr>
            <p:cNvPr id="25" name="Freeform 25"/>
            <p:cNvSpPr/>
            <p:nvPr/>
          </p:nvSpPr>
          <p:spPr>
            <a:xfrm>
              <a:off x="6096000" y="4629150"/>
              <a:ext cx="571500" cy="514350"/>
            </a:xfrm>
            <a:custGeom>
              <a:avLst/>
              <a:gdLst/>
              <a:ahLst/>
              <a:cxnLst/>
              <a:rect l="l" t="t" r="r" b="b"/>
              <a:pathLst>
                <a:path w="571500" h="514350">
                  <a:moveTo>
                    <a:pt x="28575" y="0"/>
                  </a:moveTo>
                  <a:lnTo>
                    <a:pt x="542925" y="0"/>
                  </a:lnTo>
                  <a:cubicBezTo>
                    <a:pt x="558707" y="0"/>
                    <a:pt x="571500" y="12793"/>
                    <a:pt x="571500" y="28575"/>
                  </a:cubicBezTo>
                  <a:lnTo>
                    <a:pt x="571500" y="485775"/>
                  </a:lnTo>
                  <a:cubicBezTo>
                    <a:pt x="571500" y="501557"/>
                    <a:pt x="558707" y="514350"/>
                    <a:pt x="542925" y="514350"/>
                  </a:cubicBezTo>
                  <a:lnTo>
                    <a:pt x="28575" y="514350"/>
                  </a:lnTo>
                  <a:cubicBezTo>
                    <a:pt x="12793" y="514350"/>
                    <a:pt x="0" y="501557"/>
                    <a:pt x="0" y="4857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C6282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253794" y="4463891"/>
              <a:ext cx="2559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103%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38875" y="5189220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4D4D4D"/>
                  </a:solidFill>
                  <a:latin typeface="Segoe UI"/>
                  <a:ea typeface="Microsoft YaHei"/>
                  <a:cs typeface="Segoe UI"/>
                </a:rPr>
                <a:t>遠東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6858000" y="4581525"/>
              <a:ext cx="571500" cy="561975"/>
            </a:xfrm>
            <a:custGeom>
              <a:avLst/>
              <a:gdLst/>
              <a:ahLst/>
              <a:cxnLst/>
              <a:rect l="l" t="t" r="r" b="b"/>
              <a:pathLst>
                <a:path w="571500" h="561975">
                  <a:moveTo>
                    <a:pt x="28575" y="0"/>
                  </a:moveTo>
                  <a:lnTo>
                    <a:pt x="542925" y="0"/>
                  </a:lnTo>
                  <a:cubicBezTo>
                    <a:pt x="558707" y="0"/>
                    <a:pt x="571500" y="12793"/>
                    <a:pt x="571500" y="28575"/>
                  </a:cubicBezTo>
                  <a:lnTo>
                    <a:pt x="571500" y="533400"/>
                  </a:lnTo>
                  <a:cubicBezTo>
                    <a:pt x="571500" y="549182"/>
                    <a:pt x="558707" y="561975"/>
                    <a:pt x="542925" y="561975"/>
                  </a:cubicBezTo>
                  <a:lnTo>
                    <a:pt x="28575" y="561975"/>
                  </a:lnTo>
                  <a:cubicBezTo>
                    <a:pt x="12793" y="561975"/>
                    <a:pt x="0" y="549182"/>
                    <a:pt x="0" y="533400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D32F2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030855" y="4416266"/>
              <a:ext cx="22579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116%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000875" y="5189220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4D4D4D"/>
                  </a:solidFill>
                  <a:latin typeface="Segoe UI"/>
                  <a:ea typeface="Microsoft YaHei"/>
                  <a:cs typeface="Segoe UI"/>
                </a:rPr>
                <a:t>樂天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7620000" y="4429125"/>
              <a:ext cx="571500" cy="714375"/>
            </a:xfrm>
            <a:custGeom>
              <a:avLst/>
              <a:gdLst/>
              <a:ahLst/>
              <a:cxnLst/>
              <a:rect l="l" t="t" r="r" b="b"/>
              <a:pathLst>
                <a:path w="571500" h="714375">
                  <a:moveTo>
                    <a:pt x="28575" y="0"/>
                  </a:moveTo>
                  <a:lnTo>
                    <a:pt x="542925" y="0"/>
                  </a:lnTo>
                  <a:cubicBezTo>
                    <a:pt x="558707" y="0"/>
                    <a:pt x="571500" y="12793"/>
                    <a:pt x="571500" y="28575"/>
                  </a:cubicBezTo>
                  <a:lnTo>
                    <a:pt x="571500" y="685800"/>
                  </a:lnTo>
                  <a:cubicBezTo>
                    <a:pt x="571500" y="701582"/>
                    <a:pt x="558707" y="714375"/>
                    <a:pt x="542925" y="714375"/>
                  </a:cubicBezTo>
                  <a:lnTo>
                    <a:pt x="28575" y="714375"/>
                  </a:lnTo>
                  <a:cubicBezTo>
                    <a:pt x="12793" y="714375"/>
                    <a:pt x="0" y="701582"/>
                    <a:pt x="0" y="685800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E5393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777794" y="4263866"/>
              <a:ext cx="2559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184%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762875" y="5189220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4D4D4D"/>
                  </a:solidFill>
                  <a:latin typeface="Segoe UI"/>
                  <a:ea typeface="Microsoft YaHei"/>
                  <a:cs typeface="Segoe UI"/>
                </a:rPr>
                <a:t>安泰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8382000" y="4438650"/>
              <a:ext cx="571500" cy="704850"/>
            </a:xfrm>
            <a:custGeom>
              <a:avLst/>
              <a:gdLst/>
              <a:ahLst/>
              <a:cxnLst/>
              <a:rect l="l" t="t" r="r" b="b"/>
              <a:pathLst>
                <a:path w="571500" h="704850">
                  <a:moveTo>
                    <a:pt x="28575" y="0"/>
                  </a:moveTo>
                  <a:lnTo>
                    <a:pt x="542925" y="0"/>
                  </a:lnTo>
                  <a:cubicBezTo>
                    <a:pt x="558707" y="0"/>
                    <a:pt x="571500" y="12793"/>
                    <a:pt x="571500" y="28575"/>
                  </a:cubicBezTo>
                  <a:lnTo>
                    <a:pt x="571500" y="676275"/>
                  </a:lnTo>
                  <a:cubicBezTo>
                    <a:pt x="571500" y="692057"/>
                    <a:pt x="558707" y="704850"/>
                    <a:pt x="542925" y="704850"/>
                  </a:cubicBezTo>
                  <a:lnTo>
                    <a:pt x="28575" y="704850"/>
                  </a:lnTo>
                  <a:cubicBezTo>
                    <a:pt x="12793" y="704850"/>
                    <a:pt x="0" y="692057"/>
                    <a:pt x="0" y="6762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EF535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539794" y="4273391"/>
              <a:ext cx="2559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179%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524875" y="5189220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4D4D4D"/>
                  </a:solidFill>
                  <a:latin typeface="Segoe UI"/>
                  <a:ea typeface="Microsoft YaHei"/>
                  <a:cs typeface="Segoe UI"/>
                </a:rPr>
                <a:t>凱基</a:t>
              </a:r>
            </a:p>
          </p:txBody>
        </p:sp>
        <p:sp>
          <p:nvSpPr>
            <p:cNvPr id="37" name="Freeform 37"/>
            <p:cNvSpPr/>
            <p:nvPr/>
          </p:nvSpPr>
          <p:spPr>
            <a:xfrm>
              <a:off x="9144000" y="3686175"/>
              <a:ext cx="571500" cy="1457325"/>
            </a:xfrm>
            <a:custGeom>
              <a:avLst/>
              <a:gdLst/>
              <a:ahLst/>
              <a:cxnLst/>
              <a:rect l="l" t="t" r="r" b="b"/>
              <a:pathLst>
                <a:path w="571500" h="1457325">
                  <a:moveTo>
                    <a:pt x="28575" y="0"/>
                  </a:moveTo>
                  <a:lnTo>
                    <a:pt x="542925" y="0"/>
                  </a:lnTo>
                  <a:cubicBezTo>
                    <a:pt x="558707" y="0"/>
                    <a:pt x="571500" y="12793"/>
                    <a:pt x="571500" y="28575"/>
                  </a:cubicBezTo>
                  <a:lnTo>
                    <a:pt x="571500" y="1428750"/>
                  </a:lnTo>
                  <a:cubicBezTo>
                    <a:pt x="571500" y="1444532"/>
                    <a:pt x="558707" y="1457325"/>
                    <a:pt x="542925" y="1457325"/>
                  </a:cubicBezTo>
                  <a:lnTo>
                    <a:pt x="28575" y="1457325"/>
                  </a:lnTo>
                  <a:cubicBezTo>
                    <a:pt x="12793" y="1457325"/>
                    <a:pt x="0" y="1444532"/>
                    <a:pt x="0" y="1428750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280105" y="3520916"/>
              <a:ext cx="29929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4CAF50"/>
                  </a:solidFill>
                  <a:latin typeface="Segoe UI"/>
                  <a:ea typeface="Microsoft YaHei"/>
                  <a:cs typeface="Segoe UI"/>
                </a:rPr>
                <a:t>629%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242348" y="5189220"/>
              <a:ext cx="37480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4CAF50"/>
                  </a:solidFill>
                  <a:latin typeface="Segoe UI"/>
                  <a:ea typeface="Microsoft YaHei"/>
                  <a:cs typeface="Segoe UI"/>
                </a:rPr>
                <a:t>台新★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9906000" y="4010025"/>
              <a:ext cx="571500" cy="1133475"/>
            </a:xfrm>
            <a:custGeom>
              <a:avLst/>
              <a:gdLst/>
              <a:ahLst/>
              <a:cxnLst/>
              <a:rect l="l" t="t" r="r" b="b"/>
              <a:pathLst>
                <a:path w="571500" h="1133475">
                  <a:moveTo>
                    <a:pt x="28575" y="0"/>
                  </a:moveTo>
                  <a:lnTo>
                    <a:pt x="542925" y="0"/>
                  </a:lnTo>
                  <a:cubicBezTo>
                    <a:pt x="558707" y="0"/>
                    <a:pt x="571500" y="12793"/>
                    <a:pt x="571500" y="28575"/>
                  </a:cubicBezTo>
                  <a:lnTo>
                    <a:pt x="571500" y="1104900"/>
                  </a:lnTo>
                  <a:cubicBezTo>
                    <a:pt x="571500" y="1120682"/>
                    <a:pt x="558707" y="1133475"/>
                    <a:pt x="542925" y="1133475"/>
                  </a:cubicBezTo>
                  <a:lnTo>
                    <a:pt x="28575" y="1133475"/>
                  </a:lnTo>
                  <a:cubicBezTo>
                    <a:pt x="12793" y="1133475"/>
                    <a:pt x="0" y="1120682"/>
                    <a:pt x="0" y="1104900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66BB6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048732" y="3844766"/>
              <a:ext cx="28603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300%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048875" y="5189220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4D4D4D"/>
                  </a:solidFill>
                  <a:latin typeface="Segoe UI"/>
                  <a:ea typeface="Microsoft YaHei"/>
                  <a:cs typeface="Segoe UI"/>
                </a:rPr>
                <a:t>中信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10668000" y="3267075"/>
              <a:ext cx="571500" cy="1876425"/>
            </a:xfrm>
            <a:custGeom>
              <a:avLst/>
              <a:gdLst/>
              <a:ahLst/>
              <a:cxnLst/>
              <a:rect l="l" t="t" r="r" b="b"/>
              <a:pathLst>
                <a:path w="571500" h="1876425">
                  <a:moveTo>
                    <a:pt x="28575" y="0"/>
                  </a:moveTo>
                  <a:lnTo>
                    <a:pt x="542925" y="0"/>
                  </a:lnTo>
                  <a:cubicBezTo>
                    <a:pt x="558707" y="0"/>
                    <a:pt x="571500" y="12793"/>
                    <a:pt x="571500" y="28575"/>
                  </a:cubicBezTo>
                  <a:lnTo>
                    <a:pt x="571500" y="1847850"/>
                  </a:lnTo>
                  <a:cubicBezTo>
                    <a:pt x="571500" y="1863632"/>
                    <a:pt x="558707" y="1876425"/>
                    <a:pt x="542925" y="1876425"/>
                  </a:cubicBezTo>
                  <a:lnTo>
                    <a:pt x="28575" y="1876425"/>
                  </a:lnTo>
                  <a:cubicBezTo>
                    <a:pt x="12793" y="1876425"/>
                    <a:pt x="0" y="1863632"/>
                    <a:pt x="0" y="1847850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2E7D3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804105" y="3101816"/>
              <a:ext cx="29929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Segoe UI"/>
                  <a:ea typeface="Microsoft YaHei"/>
                  <a:cs typeface="Segoe UI"/>
                </a:rPr>
                <a:t>976%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810875" y="5189220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4D4D4D"/>
                  </a:solidFill>
                  <a:latin typeface="Segoe UI"/>
                  <a:ea typeface="Microsoft YaHei"/>
                  <a:cs typeface="Segoe UI"/>
                </a:rPr>
                <a:t>國泰</a:t>
              </a:r>
            </a:p>
          </p:txBody>
        </p:sp>
      </p:grpSp>
      <p:sp>
        <p:nvSpPr>
          <p:cNvPr id="47" name="Freeform 47"/>
          <p:cNvSpPr/>
          <p:nvPr/>
        </p:nvSpPr>
        <p:spPr>
          <a:xfrm>
            <a:off x="5715000" y="54292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9050" y="0"/>
                </a:moveTo>
                <a:lnTo>
                  <a:pt x="95250" y="0"/>
                </a:lnTo>
                <a:cubicBezTo>
                  <a:pt x="105771" y="0"/>
                  <a:pt x="114300" y="8529"/>
                  <a:pt x="114300" y="19050"/>
                </a:cubicBezTo>
                <a:lnTo>
                  <a:pt x="114300" y="95250"/>
                </a:lnTo>
                <a:cubicBezTo>
                  <a:pt x="114300" y="105771"/>
                  <a:pt x="105771" y="114300"/>
                  <a:pt x="95250" y="114300"/>
                </a:cubicBezTo>
                <a:lnTo>
                  <a:pt x="19050" y="114300"/>
                </a:lnTo>
                <a:cubicBezTo>
                  <a:pt x="8529" y="114300"/>
                  <a:pt x="0" y="105771"/>
                  <a:pt x="0" y="952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CAF50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5875020" y="5427345"/>
            <a:ext cx="9626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D4D4D"/>
                </a:solidFill>
                <a:latin typeface="Segoe UI"/>
                <a:ea typeface="Microsoft YaHei"/>
                <a:cs typeface="Segoe UI"/>
              </a:rPr>
              <a:t>安全區 (&gt;500%)</a:t>
            </a:r>
          </a:p>
        </p:txBody>
      </p:sp>
      <p:sp>
        <p:nvSpPr>
          <p:cNvPr id="49" name="Freeform 49"/>
          <p:cNvSpPr/>
          <p:nvPr/>
        </p:nvSpPr>
        <p:spPr>
          <a:xfrm>
            <a:off x="7048500" y="54292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9050" y="0"/>
                </a:moveTo>
                <a:lnTo>
                  <a:pt x="95250" y="0"/>
                </a:lnTo>
                <a:cubicBezTo>
                  <a:pt x="105771" y="0"/>
                  <a:pt x="114300" y="8529"/>
                  <a:pt x="114300" y="19050"/>
                </a:cubicBezTo>
                <a:lnTo>
                  <a:pt x="114300" y="95250"/>
                </a:lnTo>
                <a:cubicBezTo>
                  <a:pt x="114300" y="105771"/>
                  <a:pt x="105771" y="114300"/>
                  <a:pt x="95250" y="114300"/>
                </a:cubicBezTo>
                <a:lnTo>
                  <a:pt x="19050" y="114300"/>
                </a:lnTo>
                <a:cubicBezTo>
                  <a:pt x="8529" y="114300"/>
                  <a:pt x="0" y="105771"/>
                  <a:pt x="0" y="952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C62828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7208520" y="5427345"/>
            <a:ext cx="9626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D4D4D"/>
                </a:solidFill>
                <a:latin typeface="Segoe UI"/>
                <a:ea typeface="Microsoft YaHei"/>
                <a:cs typeface="Segoe UI"/>
              </a:rPr>
              <a:t>警訊區 (&lt;200%)</a:t>
            </a:r>
          </a:p>
        </p:txBody>
      </p:sp>
      <p:sp>
        <p:nvSpPr>
          <p:cNvPr id="51" name="Freeform 51"/>
          <p:cNvSpPr/>
          <p:nvPr/>
        </p:nvSpPr>
        <p:spPr>
          <a:xfrm>
            <a:off x="762000" y="5619750"/>
            <a:ext cx="10668000" cy="428625"/>
          </a:xfrm>
          <a:custGeom>
            <a:avLst/>
            <a:gdLst/>
            <a:ahLst/>
            <a:cxnLst/>
            <a:rect l="l" t="t" r="r" b="b"/>
            <a:pathLst>
              <a:path w="10668000" h="428625">
                <a:moveTo>
                  <a:pt x="57150" y="0"/>
                </a:moveTo>
                <a:lnTo>
                  <a:pt x="10610850" y="0"/>
                </a:lnTo>
                <a:cubicBezTo>
                  <a:pt x="10642413" y="0"/>
                  <a:pt x="10668000" y="25587"/>
                  <a:pt x="10668000" y="57150"/>
                </a:cubicBezTo>
                <a:lnTo>
                  <a:pt x="10668000" y="371475"/>
                </a:lnTo>
                <a:cubicBezTo>
                  <a:pt x="10668000" y="403038"/>
                  <a:pt x="10642413" y="428625"/>
                  <a:pt x="10610850" y="428625"/>
                </a:cubicBezTo>
                <a:lnTo>
                  <a:pt x="57150" y="428625"/>
                </a:lnTo>
                <a:cubicBezTo>
                  <a:pt x="25587" y="428625"/>
                  <a:pt x="0" y="403038"/>
                  <a:pt x="0" y="37147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5F5"/>
          </a:solidFill>
          <a:ln w="9525">
            <a:solidFill>
              <a:srgbClr val="E0E0E0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939165" y="5773102"/>
            <a:ext cx="72802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D4D4D"/>
                </a:solidFill>
                <a:latin typeface="微軟正黑體"/>
                <a:ea typeface="Microsoft JhengHei"/>
                <a:cs typeface="微軟正黑體"/>
              </a:rPr>
              <a:t>台新提足率 629% 遠高於市場平均 502%，風險準備充足，但需持續監控樂天等競爭者擴張帶來的間接風險。</a:t>
            </a:r>
          </a:p>
        </p:txBody>
      </p:sp>
      <p:pic>
        <p:nvPicPr>
          <p:cNvPr id="53" name="Image 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228" y="6229350"/>
            <a:ext cx="1576864" cy="600075"/>
          </a:xfrm>
          <a:prstGeom prst="rect">
            <a:avLst/>
          </a:prstGeom>
        </p:spPr>
      </p:pic>
      <p:sp>
        <p:nvSpPr>
          <p:cNvPr id="54" name="Rectangle 54"/>
          <p:cNvSpPr/>
          <p:nvPr/>
        </p:nvSpPr>
        <p:spPr>
          <a:xfrm>
            <a:off x="1952625" y="6457950"/>
            <a:ext cx="8334375" cy="14288"/>
          </a:xfrm>
          <a:prstGeom prst="rect">
            <a:avLst/>
          </a:prstGeom>
          <a:solidFill>
            <a:srgbClr val="C12026"/>
          </a:solidFill>
          <a:ln>
            <a:noFill/>
          </a:ln>
        </p:spPr>
      </p:sp>
      <p:sp>
        <p:nvSpPr>
          <p:cNvPr id="55" name="Rectangle 55"/>
          <p:cNvSpPr/>
          <p:nvPr/>
        </p:nvSpPr>
        <p:spPr>
          <a:xfrm>
            <a:off x="10287000" y="6457950"/>
            <a:ext cx="1457325" cy="14288"/>
          </a:xfrm>
          <a:prstGeom prst="rect">
            <a:avLst/>
          </a:prstGeom>
          <a:solidFill>
            <a:srgbClr val="CCCCCC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11953065" y="6611302"/>
            <a:ext cx="1570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微軟正黑體"/>
                <a:ea typeface="Microsoft JhengHei"/>
                <a:cs typeface="微軟正黑體"/>
              </a:rPr>
              <a:t>14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0567606" y="6611302"/>
            <a:ext cx="11614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智  慧  好  夥  伴</a:t>
            </a: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5442466" y="2584132"/>
            <a:ext cx="13070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C12026"/>
                </a:solidFill>
                <a:latin typeface="微軟正黑體"/>
                <a:ea typeface="Microsoft JhengHei"/>
                <a:cs typeface="微軟正黑體"/>
              </a:rPr>
              <a:t>CHAPTER 05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842004" y="2849880"/>
            <a:ext cx="4507992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4D4D4D"/>
                </a:solidFill>
                <a:latin typeface="微軟正黑體"/>
                <a:ea typeface="Microsoft JhengHei"/>
                <a:cs typeface="微軟正黑體"/>
              </a:rPr>
              <a:t>對台新的策略建議</a:t>
            </a:r>
          </a:p>
        </p:txBody>
      </p:sp>
      <p:sp>
        <p:nvSpPr>
          <p:cNvPr id="5" name="Rectangle 5"/>
          <p:cNvSpPr/>
          <p:nvPr/>
        </p:nvSpPr>
        <p:spPr>
          <a:xfrm>
            <a:off x="5143500" y="3810000"/>
            <a:ext cx="1905000" cy="28575"/>
          </a:xfrm>
          <a:prstGeom prst="rect">
            <a:avLst/>
          </a:prstGeom>
          <a:solidFill>
            <a:srgbClr val="C12026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1953065" y="6611302"/>
            <a:ext cx="1570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微軟正黑體"/>
                <a:ea typeface="Microsoft JhengHei"/>
                <a:cs typeface="微軟正黑體"/>
              </a:rPr>
              <a:t>15</a:t>
            </a:r>
          </a:p>
        </p:txBody>
      </p:sp>
      <p:pic>
        <p:nvPicPr>
          <p:cNvPr id="7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6874" y="5695950"/>
            <a:ext cx="2778252" cy="105727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33425" y="614362"/>
            <a:ext cx="4378404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1A1A1A"/>
                </a:solidFill>
                <a:latin typeface="微軟正黑體"/>
                <a:ea typeface="Microsoft JhengHei"/>
                <a:cs typeface="微軟正黑體"/>
              </a:rPr>
              <a:t>台新策略建議 — 四大行動方針</a:t>
            </a:r>
          </a:p>
        </p:txBody>
      </p:sp>
      <p:sp>
        <p:nvSpPr>
          <p:cNvPr id="4" name="Freeform 4"/>
          <p:cNvSpPr/>
          <p:nvPr/>
        </p:nvSpPr>
        <p:spPr>
          <a:xfrm>
            <a:off x="762000" y="1285875"/>
            <a:ext cx="10668000" cy="457200"/>
          </a:xfrm>
          <a:custGeom>
            <a:avLst/>
            <a:gdLst/>
            <a:ahLst/>
            <a:cxnLst/>
            <a:rect l="l" t="t" r="r" b="b"/>
            <a:pathLst>
              <a:path w="10668000" h="457200">
                <a:moveTo>
                  <a:pt x="57150" y="0"/>
                </a:moveTo>
                <a:lnTo>
                  <a:pt x="10610850" y="0"/>
                </a:lnTo>
                <a:cubicBezTo>
                  <a:pt x="10642413" y="0"/>
                  <a:pt x="10668000" y="25587"/>
                  <a:pt x="10668000" y="57150"/>
                </a:cubicBezTo>
                <a:lnTo>
                  <a:pt x="10668000" y="400050"/>
                </a:lnTo>
                <a:cubicBezTo>
                  <a:pt x="10668000" y="431613"/>
                  <a:pt x="10642413" y="457200"/>
                  <a:pt x="10610850" y="457200"/>
                </a:cubicBezTo>
                <a:lnTo>
                  <a:pt x="57150" y="457200"/>
                </a:lnTo>
                <a:cubicBezTo>
                  <a:pt x="25587" y="457200"/>
                  <a:pt x="0" y="431613"/>
                  <a:pt x="0" y="4000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5F5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37260" y="1442085"/>
            <a:ext cx="625965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C12026"/>
                </a:solidFill>
                <a:latin typeface="微軟正黑體"/>
                <a:ea typeface="Microsoft JhengHei"/>
                <a:cs typeface="微軟正黑體"/>
              </a:rPr>
              <a:t>◆ 基於數據洞察的四項優先策略：提升市占、深化數位、精進風險、強化分眾</a:t>
            </a:r>
          </a:p>
        </p:txBody>
      </p:sp>
      <p:sp>
        <p:nvSpPr>
          <p:cNvPr id="6" name="Freeform 6"/>
          <p:cNvSpPr/>
          <p:nvPr/>
        </p:nvSpPr>
        <p:spPr>
          <a:xfrm>
            <a:off x="762000" y="2000250"/>
            <a:ext cx="5238750" cy="1905000"/>
          </a:xfrm>
          <a:custGeom>
            <a:avLst/>
            <a:gdLst/>
            <a:ahLst/>
            <a:cxnLst/>
            <a:rect l="l" t="t" r="r" b="b"/>
            <a:pathLst>
              <a:path w="5238750" h="1905000">
                <a:moveTo>
                  <a:pt x="95250" y="0"/>
                </a:moveTo>
                <a:lnTo>
                  <a:pt x="5143500" y="0"/>
                </a:lnTo>
                <a:cubicBezTo>
                  <a:pt x="5196105" y="0"/>
                  <a:pt x="5238750" y="42645"/>
                  <a:pt x="5238750" y="95250"/>
                </a:cubicBezTo>
                <a:lnTo>
                  <a:pt x="5238750" y="1809750"/>
                </a:lnTo>
                <a:cubicBezTo>
                  <a:pt x="5238750" y="1862355"/>
                  <a:pt x="5196105" y="1905000"/>
                  <a:pt x="5143500" y="1905000"/>
                </a:cubicBezTo>
                <a:lnTo>
                  <a:pt x="95250" y="1905000"/>
                </a:lnTo>
                <a:cubicBezTo>
                  <a:pt x="42645" y="1905000"/>
                  <a:pt x="0" y="1862355"/>
                  <a:pt x="0" y="1809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9F9F9"/>
          </a:solidFill>
          <a:ln w="9525">
            <a:solidFill>
              <a:srgbClr val="E0E0E0"/>
            </a:solidFill>
          </a:ln>
        </p:spPr>
      </p:sp>
      <p:sp>
        <p:nvSpPr>
          <p:cNvPr id="7" name="Freeform 7"/>
          <p:cNvSpPr/>
          <p:nvPr/>
        </p:nvSpPr>
        <p:spPr>
          <a:xfrm>
            <a:off x="952500" y="2190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84" y="0"/>
                  <a:pt x="381000" y="34116"/>
                  <a:pt x="381000" y="76200"/>
                </a:cubicBezTo>
                <a:lnTo>
                  <a:pt x="381000" y="304800"/>
                </a:lnTo>
                <a:cubicBezTo>
                  <a:pt x="381000" y="346884"/>
                  <a:pt x="346884" y="381000"/>
                  <a:pt x="304800" y="381000"/>
                </a:cubicBezTo>
                <a:lnTo>
                  <a:pt x="76200" y="381000"/>
                </a:lnTo>
                <a:cubicBezTo>
                  <a:pt x="34116" y="381000"/>
                  <a:pt x="0" y="346884"/>
                  <a:pt x="0" y="30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C12026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37869" y="2292668"/>
            <a:ext cx="2102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59230" y="2254568"/>
            <a:ext cx="272562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微軟正黑體"/>
                <a:ea typeface="Microsoft JhengHei"/>
                <a:cs typeface="微軟正黑體"/>
              </a:rPr>
              <a:t>加速數位發卡，縮小城鎮差距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9165" y="2696528"/>
            <a:ext cx="34694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D4D4D"/>
                </a:solidFill>
                <a:latin typeface="微軟正黑體"/>
                <a:ea typeface="Microsoft JhengHei"/>
                <a:cs typeface="微軟正黑體"/>
              </a:rPr>
              <a:t>台新當月發卡數 44,324（12月）雖不低，但流通卡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9165" y="2887028"/>
            <a:ext cx="28253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D4D4D"/>
                </a:solidFill>
                <a:latin typeface="微軟正黑體"/>
                <a:ea typeface="Microsoft JhengHei"/>
                <a:cs typeface="微軟正黑體"/>
              </a:rPr>
              <a:t>YoY 僅 +0.8%，遠低於玉山 +17%。建議：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9165" y="3172778"/>
            <a:ext cx="349665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C12026"/>
                </a:solidFill>
                <a:latin typeface="微軟正黑體"/>
                <a:ea typeface="Microsoft JhengHei"/>
                <a:cs typeface="微軟正黑體"/>
              </a:rPr>
              <a:t>▸ 強化線上發卡體驗，目標 115 年發卡數提升 20%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9165" y="3410902"/>
            <a:ext cx="311825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C12026"/>
                </a:solidFill>
                <a:latin typeface="微軟正黑體"/>
                <a:ea typeface="Microsoft JhengHei"/>
                <a:cs typeface="微軟正黑體"/>
              </a:rPr>
              <a:t>▸ 針對 25-35 歲年輕客群推出數位專屬卡種</a:t>
            </a:r>
          </a:p>
        </p:txBody>
      </p:sp>
      <p:sp>
        <p:nvSpPr>
          <p:cNvPr id="14" name="Freeform 14"/>
          <p:cNvSpPr/>
          <p:nvPr/>
        </p:nvSpPr>
        <p:spPr>
          <a:xfrm>
            <a:off x="6191250" y="2000250"/>
            <a:ext cx="5238750" cy="1905000"/>
          </a:xfrm>
          <a:custGeom>
            <a:avLst/>
            <a:gdLst/>
            <a:ahLst/>
            <a:cxnLst/>
            <a:rect l="l" t="t" r="r" b="b"/>
            <a:pathLst>
              <a:path w="5238750" h="1905000">
                <a:moveTo>
                  <a:pt x="95250" y="0"/>
                </a:moveTo>
                <a:lnTo>
                  <a:pt x="5143500" y="0"/>
                </a:lnTo>
                <a:cubicBezTo>
                  <a:pt x="5196105" y="0"/>
                  <a:pt x="5238750" y="42645"/>
                  <a:pt x="5238750" y="95250"/>
                </a:cubicBezTo>
                <a:lnTo>
                  <a:pt x="5238750" y="1809750"/>
                </a:lnTo>
                <a:cubicBezTo>
                  <a:pt x="5238750" y="1862355"/>
                  <a:pt x="5196105" y="1905000"/>
                  <a:pt x="5143500" y="1905000"/>
                </a:cubicBezTo>
                <a:lnTo>
                  <a:pt x="95250" y="1905000"/>
                </a:lnTo>
                <a:cubicBezTo>
                  <a:pt x="42645" y="1905000"/>
                  <a:pt x="0" y="1862355"/>
                  <a:pt x="0" y="1809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9F9F9"/>
          </a:solidFill>
          <a:ln w="9525">
            <a:solidFill>
              <a:srgbClr val="E0E0E0"/>
            </a:solidFill>
          </a:ln>
        </p:spPr>
      </p:sp>
      <p:sp>
        <p:nvSpPr>
          <p:cNvPr id="15" name="Freeform 15"/>
          <p:cNvSpPr/>
          <p:nvPr/>
        </p:nvSpPr>
        <p:spPr>
          <a:xfrm>
            <a:off x="6381750" y="2190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84" y="0"/>
                  <a:pt x="381000" y="34116"/>
                  <a:pt x="381000" y="76200"/>
                </a:cubicBezTo>
                <a:lnTo>
                  <a:pt x="381000" y="304800"/>
                </a:lnTo>
                <a:cubicBezTo>
                  <a:pt x="381000" y="346884"/>
                  <a:pt x="346884" y="381000"/>
                  <a:pt x="304800" y="381000"/>
                </a:cubicBezTo>
                <a:lnTo>
                  <a:pt x="76200" y="381000"/>
                </a:lnTo>
                <a:cubicBezTo>
                  <a:pt x="34116" y="381000"/>
                  <a:pt x="0" y="346884"/>
                  <a:pt x="0" y="30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C12026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441241" y="2292668"/>
            <a:ext cx="2620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02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888480" y="2254568"/>
            <a:ext cx="29326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微軟正黑體"/>
                <a:ea typeface="Microsoft JhengHei"/>
                <a:cs typeface="微軟正黑體"/>
              </a:rPr>
              <a:t>深化消費場景，提升每卡簽帳力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368415" y="2696528"/>
            <a:ext cx="34540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D4D4D"/>
                </a:solidFill>
                <a:latin typeface="微軟正黑體"/>
                <a:ea typeface="Microsoft JhengHei"/>
                <a:cs typeface="微軟正黑體"/>
              </a:rPr>
              <a:t>台新每卡簽帳 999 百元已達 Top 5 水準，但距離國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368415" y="2887028"/>
            <a:ext cx="22272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D4D4D"/>
                </a:solidFill>
                <a:latin typeface="微軟正黑體"/>
                <a:ea typeface="Microsoft JhengHei"/>
                <a:cs typeface="微軟正黑體"/>
              </a:rPr>
              <a:t>泰 1,572 仍有 57% 差距。建議：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368415" y="3172778"/>
            <a:ext cx="35610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C12026"/>
                </a:solidFill>
                <a:latin typeface="微軟正黑體"/>
                <a:ea typeface="Microsoft JhengHei"/>
                <a:cs typeface="微軟正黑體"/>
              </a:rPr>
              <a:t>▸ 與電商/外送/繳費平台深度綁定，提升使用頻率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368415" y="3410902"/>
            <a:ext cx="331148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C12026"/>
                </a:solidFill>
                <a:latin typeface="微軟正黑體"/>
                <a:ea typeface="Microsoft JhengHei"/>
                <a:cs typeface="微軟正黑體"/>
              </a:rPr>
              <a:t>▸ 強化「回饋+分期」組合，鎖定大額消費場景</a:t>
            </a:r>
          </a:p>
        </p:txBody>
      </p:sp>
      <p:sp>
        <p:nvSpPr>
          <p:cNvPr id="22" name="Freeform 22"/>
          <p:cNvSpPr/>
          <p:nvPr/>
        </p:nvSpPr>
        <p:spPr>
          <a:xfrm>
            <a:off x="762000" y="4095750"/>
            <a:ext cx="5238750" cy="1905000"/>
          </a:xfrm>
          <a:custGeom>
            <a:avLst/>
            <a:gdLst/>
            <a:ahLst/>
            <a:cxnLst/>
            <a:rect l="l" t="t" r="r" b="b"/>
            <a:pathLst>
              <a:path w="5238750" h="1905000">
                <a:moveTo>
                  <a:pt x="95250" y="0"/>
                </a:moveTo>
                <a:lnTo>
                  <a:pt x="5143500" y="0"/>
                </a:lnTo>
                <a:cubicBezTo>
                  <a:pt x="5196105" y="0"/>
                  <a:pt x="5238750" y="42645"/>
                  <a:pt x="5238750" y="95250"/>
                </a:cubicBezTo>
                <a:lnTo>
                  <a:pt x="5238750" y="1809750"/>
                </a:lnTo>
                <a:cubicBezTo>
                  <a:pt x="5238750" y="1862355"/>
                  <a:pt x="5196105" y="1905000"/>
                  <a:pt x="5143500" y="1905000"/>
                </a:cubicBezTo>
                <a:lnTo>
                  <a:pt x="95250" y="1905000"/>
                </a:lnTo>
                <a:cubicBezTo>
                  <a:pt x="42645" y="1905000"/>
                  <a:pt x="0" y="1862355"/>
                  <a:pt x="0" y="1809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9F9F9"/>
          </a:solidFill>
          <a:ln w="9525">
            <a:solidFill>
              <a:srgbClr val="E0E0E0"/>
            </a:solidFill>
          </a:ln>
        </p:spPr>
      </p:sp>
      <p:sp>
        <p:nvSpPr>
          <p:cNvPr id="23" name="Freeform 23"/>
          <p:cNvSpPr/>
          <p:nvPr/>
        </p:nvSpPr>
        <p:spPr>
          <a:xfrm>
            <a:off x="952500" y="42862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84" y="0"/>
                  <a:pt x="381000" y="34116"/>
                  <a:pt x="381000" y="76200"/>
                </a:cubicBezTo>
                <a:lnTo>
                  <a:pt x="381000" y="304800"/>
                </a:lnTo>
                <a:cubicBezTo>
                  <a:pt x="381000" y="346884"/>
                  <a:pt x="346884" y="381000"/>
                  <a:pt x="304800" y="381000"/>
                </a:cubicBezTo>
                <a:lnTo>
                  <a:pt x="76200" y="381000"/>
                </a:lnTo>
                <a:cubicBezTo>
                  <a:pt x="34116" y="381000"/>
                  <a:pt x="0" y="346884"/>
                  <a:pt x="0" y="30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C12026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011991" y="4388168"/>
            <a:ext cx="2620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03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59230" y="4350068"/>
            <a:ext cx="313967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微軟正黑體"/>
                <a:ea typeface="Microsoft JhengHei"/>
                <a:cs typeface="微軟正黑體"/>
              </a:rPr>
              <a:t>維持風險控管優勢，建立市場信任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39165" y="4792028"/>
            <a:ext cx="351543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D4D4D"/>
                </a:solidFill>
                <a:latin typeface="微軟正黑體"/>
                <a:ea typeface="Microsoft JhengHei"/>
                <a:cs typeface="微軟正黑體"/>
              </a:rPr>
              <a:t>台新逾期率 0.22% &lt; 市場平均 0.24%，提足率 629%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39165" y="4982528"/>
            <a:ext cx="34771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D4D4D"/>
                </a:solidFill>
                <a:latin typeface="微軟正黑體"/>
                <a:ea typeface="Microsoft JhengHei"/>
                <a:cs typeface="微軟正黑體"/>
              </a:rPr>
              <a:t>遠超市場 502%。在樂天等競爭者風險惡化背景下，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39165" y="5268278"/>
            <a:ext cx="37059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C12026"/>
                </a:solidFill>
                <a:latin typeface="微軟正黑體"/>
                <a:ea typeface="Microsoft JhengHei"/>
                <a:cs typeface="微軟正黑體"/>
              </a:rPr>
              <a:t>▸ 將風險優勢轉化為品牌差異化，強調「安全」定位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39165" y="5506402"/>
            <a:ext cx="329537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C12026"/>
                </a:solidFill>
                <a:latin typeface="微軟正黑體"/>
                <a:ea typeface="Microsoft JhengHei"/>
                <a:cs typeface="微軟正黑體"/>
              </a:rPr>
              <a:t>▸ 持續精進 AI 核模型，在擴張中守住信用品質</a:t>
            </a:r>
          </a:p>
        </p:txBody>
      </p:sp>
      <p:sp>
        <p:nvSpPr>
          <p:cNvPr id="30" name="Freeform 30"/>
          <p:cNvSpPr/>
          <p:nvPr/>
        </p:nvSpPr>
        <p:spPr>
          <a:xfrm>
            <a:off x="6191250" y="4095750"/>
            <a:ext cx="5238750" cy="1905000"/>
          </a:xfrm>
          <a:custGeom>
            <a:avLst/>
            <a:gdLst/>
            <a:ahLst/>
            <a:cxnLst/>
            <a:rect l="l" t="t" r="r" b="b"/>
            <a:pathLst>
              <a:path w="5238750" h="1905000">
                <a:moveTo>
                  <a:pt x="95250" y="0"/>
                </a:moveTo>
                <a:lnTo>
                  <a:pt x="5143500" y="0"/>
                </a:lnTo>
                <a:cubicBezTo>
                  <a:pt x="5196105" y="0"/>
                  <a:pt x="5238750" y="42645"/>
                  <a:pt x="5238750" y="95250"/>
                </a:cubicBezTo>
                <a:lnTo>
                  <a:pt x="5238750" y="1809750"/>
                </a:lnTo>
                <a:cubicBezTo>
                  <a:pt x="5238750" y="1862355"/>
                  <a:pt x="5196105" y="1905000"/>
                  <a:pt x="5143500" y="1905000"/>
                </a:cubicBezTo>
                <a:lnTo>
                  <a:pt x="95250" y="1905000"/>
                </a:lnTo>
                <a:cubicBezTo>
                  <a:pt x="42645" y="1905000"/>
                  <a:pt x="0" y="1862355"/>
                  <a:pt x="0" y="1809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9F9F9"/>
          </a:solidFill>
          <a:ln w="9525">
            <a:solidFill>
              <a:srgbClr val="E0E0E0"/>
            </a:solidFill>
          </a:ln>
        </p:spPr>
      </p:sp>
      <p:sp>
        <p:nvSpPr>
          <p:cNvPr id="31" name="Freeform 31"/>
          <p:cNvSpPr/>
          <p:nvPr/>
        </p:nvSpPr>
        <p:spPr>
          <a:xfrm>
            <a:off x="6381750" y="42862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84" y="0"/>
                  <a:pt x="381000" y="34116"/>
                  <a:pt x="381000" y="76200"/>
                </a:cubicBezTo>
                <a:lnTo>
                  <a:pt x="381000" y="304800"/>
                </a:lnTo>
                <a:cubicBezTo>
                  <a:pt x="381000" y="346884"/>
                  <a:pt x="346884" y="381000"/>
                  <a:pt x="304800" y="381000"/>
                </a:cubicBezTo>
                <a:lnTo>
                  <a:pt x="76200" y="381000"/>
                </a:lnTo>
                <a:cubicBezTo>
                  <a:pt x="34116" y="381000"/>
                  <a:pt x="0" y="346884"/>
                  <a:pt x="0" y="30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C12026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441241" y="4388168"/>
            <a:ext cx="2620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04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888480" y="4350068"/>
            <a:ext cx="313967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微軟正黑體"/>
                <a:ea typeface="Microsoft JhengHei"/>
                <a:cs typeface="微軟正黑體"/>
              </a:rPr>
              <a:t>精進有效卡經營，降低沉沒卡成本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368415" y="4792028"/>
            <a:ext cx="33007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D4D4D"/>
                </a:solidFill>
                <a:latin typeface="微軟正黑體"/>
                <a:ea typeface="Microsoft JhengHei"/>
                <a:cs typeface="微軟正黑體"/>
              </a:rPr>
              <a:t>台新有效卡率 73.2% 已屬優異，但距離台北富邦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368415" y="4982528"/>
            <a:ext cx="16828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D4D4D"/>
                </a:solidFill>
                <a:latin typeface="微軟正黑體"/>
                <a:ea typeface="Microsoft JhengHei"/>
                <a:cs typeface="微軟正黑體"/>
              </a:rPr>
              <a:t>79.1% 仍有空間。建議：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368415" y="5268278"/>
            <a:ext cx="351275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C12026"/>
                </a:solidFill>
                <a:latin typeface="微軟正黑體"/>
                <a:ea typeface="Microsoft JhengHei"/>
                <a:cs typeface="微軟正黑體"/>
              </a:rPr>
              <a:t>▸ 針對 6 個月未消費卡戶啟動精準喚醒 campaign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368415" y="5506402"/>
            <a:ext cx="33839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C12026"/>
                </a:solidFill>
                <a:latin typeface="微軟正黑體"/>
                <a:ea typeface="Microsoft JhengHei"/>
                <a:cs typeface="微軟正黑體"/>
              </a:rPr>
              <a:t>▸ 建立「沉睡卡」預警機制，主動提供誘因喚醒</a:t>
            </a:r>
          </a:p>
        </p:txBody>
      </p:sp>
      <p:pic>
        <p:nvPicPr>
          <p:cNvPr id="38" name="Imag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228" y="6229350"/>
            <a:ext cx="1576864" cy="600075"/>
          </a:xfrm>
          <a:prstGeom prst="rect">
            <a:avLst/>
          </a:prstGeom>
        </p:spPr>
      </p:pic>
      <p:sp>
        <p:nvSpPr>
          <p:cNvPr id="39" name="Rectangle 39"/>
          <p:cNvSpPr/>
          <p:nvPr/>
        </p:nvSpPr>
        <p:spPr>
          <a:xfrm>
            <a:off x="1952625" y="6457950"/>
            <a:ext cx="8334375" cy="14288"/>
          </a:xfrm>
          <a:prstGeom prst="rect">
            <a:avLst/>
          </a:prstGeom>
          <a:solidFill>
            <a:srgbClr val="C12026"/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10287000" y="6457950"/>
            <a:ext cx="1457325" cy="14288"/>
          </a:xfrm>
          <a:prstGeom prst="rect">
            <a:avLst/>
          </a:prstGeom>
          <a:solidFill>
            <a:srgbClr val="CCCCCC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11953065" y="6611302"/>
            <a:ext cx="1570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微軟正黑體"/>
                <a:ea typeface="Microsoft JhengHei"/>
                <a:cs typeface="微軟正黑體"/>
              </a:rPr>
              <a:t>16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567606" y="6611302"/>
            <a:ext cx="11614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智  慧  好  夥  伴</a:t>
            </a: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5089874" y="2517458"/>
            <a:ext cx="2012252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4D4D4D"/>
                </a:solidFill>
                <a:latin typeface="微軟正黑體"/>
                <a:ea typeface="Microsoft JhengHei"/>
                <a:cs typeface="微軟正黑體"/>
              </a:rPr>
              <a:t>感謝聆聽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293078" y="3329940"/>
            <a:ext cx="560584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5D5D5D"/>
                </a:solidFill>
                <a:latin typeface="微軟正黑體"/>
                <a:ea typeface="Microsoft JhengHei"/>
                <a:cs typeface="微軟正黑體"/>
              </a:rPr>
              <a:t>台新國際商業銀行 — 信用卡市場分析與經營洞察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30465" y="3854768"/>
            <a:ext cx="51310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D5D5D"/>
                </a:solidFill>
                <a:latin typeface="微軟正黑體"/>
                <a:ea typeface="Microsoft JhengHei"/>
                <a:cs typeface="微軟正黑體"/>
              </a:rPr>
              <a:t>資料來源：各金融機構信用卡重要資訊揭露（114年1-12月）</a:t>
            </a:r>
          </a:p>
        </p:txBody>
      </p:sp>
      <p:pic>
        <p:nvPicPr>
          <p:cNvPr id="6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6874" y="5695950"/>
            <a:ext cx="2778252" cy="105727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佈景主題">
  <a:themeElements>
    <a:clrScheme name="Office 佈景主題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1838</Words>
  <Application>Microsoft Office PowerPoint</Application>
  <PresentationFormat>寬螢幕</PresentationFormat>
  <Paragraphs>296</Paragraphs>
  <Slides>19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19</vt:i4>
      </vt:variant>
    </vt:vector>
  </HeadingPairs>
  <TitlesOfParts>
    <vt:vector size="28" baseType="lpstr">
      <vt:lpstr>Noto Sans Symbols</vt:lpstr>
      <vt:lpstr>Microsoft JhengHei</vt:lpstr>
      <vt:lpstr>Microsoft JhengHei</vt:lpstr>
      <vt:lpstr>Arial</vt:lpstr>
      <vt:lpstr>Calibri</vt:lpstr>
      <vt:lpstr>Noto Sans</vt:lpstr>
      <vt:lpstr>Segoe UI</vt:lpstr>
      <vt:lpstr>Office Theme</vt:lpstr>
      <vt:lpstr>1_Office 佈景主題</vt:lpstr>
      <vt:lpstr>PowerPoint 簡報</vt:lpstr>
      <vt:lpstr>PowerPoint 簡報</vt:lpstr>
      <vt:lpstr>PowerPoint 簡報</vt:lpstr>
      <vt:lpstr>PowerPoint 簡報</vt:lpstr>
      <vt:lpstr>PowerPoint 簡報</vt:lpstr>
      <vt:lpstr>(P.5 預期修正) 市場規模趨勢 — 流通卡數與簽帳金額</vt:lpstr>
      <vt:lpstr>PowerPoint 簡報</vt:lpstr>
      <vt:lpstr>(P.7 預期修正)市占率排名 — Top 10 銀行流通卡數與簽帳金額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cp:keywords/>
  <dc:description>generated using python-pptx</dc:description>
  <cp:lastModifiedBy>蕭宇喬</cp:lastModifiedBy>
  <cp:revision>25</cp:revision>
  <dcterms:created xsi:type="dcterms:W3CDTF">2013-01-27T09:14:16Z</dcterms:created>
  <dcterms:modified xsi:type="dcterms:W3CDTF">2026-05-27T02:07:55Z</dcterms:modified>
  <cp:category/>
</cp:coreProperties>
</file>